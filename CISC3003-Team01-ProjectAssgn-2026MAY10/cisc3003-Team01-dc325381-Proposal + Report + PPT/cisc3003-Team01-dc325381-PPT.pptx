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Roboto Condensed Bold" charset="1" panose="02000000000000000000"/>
      <p:regular r:id="rId33"/>
    </p:embeddedFont>
    <p:embeddedFont>
      <p:font typeface="Roboto Condensed" charset="1" panose="02000000000000000000"/>
      <p:regular r:id="rId34"/>
    </p:embeddedFont>
    <p:embeddedFont>
      <p:font typeface="Canva Sans" charset="1" panose="020B0503030501040103"/>
      <p:regular r:id="rId35"/>
    </p:embeddedFont>
    <p:embeddedFont>
      <p:font typeface="Garet Bold" charset="1" panose="00000000000000000000"/>
      <p:regular r:id="rId36"/>
    </p:embeddedFont>
    <p:embeddedFont>
      <p:font typeface="Canva Sans Bold" charset="1" panose="020B0803030501040103"/>
      <p:regular r:id="rId37"/>
    </p:embeddedFont>
    <p:embeddedFont>
      <p:font typeface="Arimo" charset="1" panose="020B0604020202020204"/>
      <p:regular r:id="rId38"/>
    </p:embeddedFont>
    <p:embeddedFont>
      <p:font typeface="Poppins Bold" charset="1" panose="00000800000000000000"/>
      <p:regular r:id="rId39"/>
    </p:embeddedFont>
    <p:embeddedFont>
      <p:font typeface="Poppins" charset="1" panose="00000500000000000000"/>
      <p:regular r:id="rId40"/>
    </p:embeddedFont>
    <p:embeddedFont>
      <p:font typeface="Poppins Italics" charset="1" panose="0000050000000000000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jpe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8.jpeg" Type="http://schemas.openxmlformats.org/officeDocument/2006/relationships/image"/><Relationship Id="rId5" Target="../media/image39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0.png" Type="http://schemas.openxmlformats.org/officeDocument/2006/relationships/image"/><Relationship Id="rId5" Target="../media/image4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2.jpeg" Type="http://schemas.openxmlformats.org/officeDocument/2006/relationships/image"/><Relationship Id="rId5" Target="../media/image43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44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5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https://cisc3003team01.gt.tc" TargetMode="External" Type="http://schemas.openxmlformats.org/officeDocument/2006/relationships/hyperlink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54.png" Type="http://schemas.openxmlformats.org/officeDocument/2006/relationships/image"/><Relationship Id="rId9" Target="../media/image55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jpeg" Type="http://schemas.openxmlformats.org/officeDocument/2006/relationships/image"/><Relationship Id="rId3" Target="../media/image57.jpe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https://developer.mozilla.org/en-US/docs/Learn_web_development/Core/CSS_layout/Responsive_Design" TargetMode="External" Type="http://schemas.openxmlformats.org/officeDocument/2006/relationships/hyperlink"/><Relationship Id="rId5" Target="https://developer.mozilla.org/en-US/docs/Learn_web_development/Core/CSS_layout/Responsive_Design" TargetMode="External" Type="http://schemas.openxmlformats.org/officeDocument/2006/relationships/hyperlink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13597"/>
            <a:ext cx="10405520" cy="3273403"/>
          </a:xfrm>
          <a:custGeom>
            <a:avLst/>
            <a:gdLst/>
            <a:ahLst/>
            <a:cxnLst/>
            <a:rect r="r" b="b" t="t" l="l"/>
            <a:pathLst>
              <a:path h="3273403" w="10405520">
                <a:moveTo>
                  <a:pt x="0" y="0"/>
                </a:moveTo>
                <a:lnTo>
                  <a:pt x="10405520" y="0"/>
                </a:lnTo>
                <a:lnTo>
                  <a:pt x="10405520" y="3273403"/>
                </a:lnTo>
                <a:lnTo>
                  <a:pt x="0" y="3273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8638126" y="0"/>
            <a:ext cx="9649874" cy="1254484"/>
          </a:xfrm>
          <a:custGeom>
            <a:avLst/>
            <a:gdLst/>
            <a:ahLst/>
            <a:cxnLst/>
            <a:rect r="r" b="b" t="t" l="l"/>
            <a:pathLst>
              <a:path h="1254484" w="9649874">
                <a:moveTo>
                  <a:pt x="9649874" y="0"/>
                </a:moveTo>
                <a:lnTo>
                  <a:pt x="0" y="0"/>
                </a:lnTo>
                <a:lnTo>
                  <a:pt x="0" y="1254484"/>
                </a:lnTo>
                <a:lnTo>
                  <a:pt x="9649874" y="1254484"/>
                </a:lnTo>
                <a:lnTo>
                  <a:pt x="96498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-440305"/>
            <a:ext cx="9544266" cy="842510"/>
            <a:chOff x="0" y="0"/>
            <a:chExt cx="2513716" cy="2218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13716" cy="221896"/>
            </a:xfrm>
            <a:custGeom>
              <a:avLst/>
              <a:gdLst/>
              <a:ahLst/>
              <a:cxnLst/>
              <a:rect r="r" b="b" t="t" l="l"/>
              <a:pathLst>
                <a:path h="221896" w="2513716">
                  <a:moveTo>
                    <a:pt x="2310516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2513716" y="221896"/>
                  </a:lnTo>
                  <a:lnTo>
                    <a:pt x="2310516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01600" y="-38100"/>
              <a:ext cx="2310516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85846" y="570092"/>
            <a:ext cx="8301748" cy="500151"/>
            <a:chOff x="0" y="0"/>
            <a:chExt cx="3683131" cy="2218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83131" cy="221896"/>
            </a:xfrm>
            <a:custGeom>
              <a:avLst/>
              <a:gdLst/>
              <a:ahLst/>
              <a:cxnLst/>
              <a:rect r="r" b="b" t="t" l="l"/>
              <a:pathLst>
                <a:path h="221896" w="3683131">
                  <a:moveTo>
                    <a:pt x="3479931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3683131" y="221896"/>
                  </a:lnTo>
                  <a:lnTo>
                    <a:pt x="3479931" y="0"/>
                  </a:lnTo>
                  <a:close/>
                </a:path>
              </a:pathLst>
            </a:custGeom>
            <a:solidFill>
              <a:srgbClr val="12366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38100"/>
              <a:ext cx="3479931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2056462"/>
            <a:ext cx="9357543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CISC3003 Web Programming</a:t>
            </a:r>
          </a:p>
          <a:p>
            <a:pPr algn="l">
              <a:lnSpc>
                <a:spcPts val="8160"/>
              </a:lnSpc>
            </a:pP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9816144" y="1576536"/>
            <a:ext cx="7133929" cy="7133929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02870" y="638810"/>
              <a:ext cx="6149340" cy="5613400"/>
            </a:xfrm>
            <a:custGeom>
              <a:avLst/>
              <a:gdLst/>
              <a:ahLst/>
              <a:cxnLst/>
              <a:rect r="r" b="b" t="t" l="l"/>
              <a:pathLst>
                <a:path h="5613400" w="6149340">
                  <a:moveTo>
                    <a:pt x="6149340" y="5613400"/>
                  </a:moveTo>
                  <a:lnTo>
                    <a:pt x="0" y="5613400"/>
                  </a:lnTo>
                  <a:lnTo>
                    <a:pt x="0" y="0"/>
                  </a:lnTo>
                  <a:lnTo>
                    <a:pt x="6148070" y="0"/>
                  </a:lnTo>
                  <a:lnTo>
                    <a:pt x="6149340" y="5613400"/>
                  </a:lnTo>
                  <a:lnTo>
                    <a:pt x="6149340" y="5613400"/>
                  </a:lnTo>
                  <a:close/>
                </a:path>
              </a:pathLst>
            </a:custGeom>
            <a:blipFill>
              <a:blip r:embed="rId6"/>
              <a:stretch>
                <a:fillRect l="-29898" t="0" r="-29898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02870" y="105410"/>
              <a:ext cx="6149340" cy="431800"/>
            </a:xfrm>
            <a:custGeom>
              <a:avLst/>
              <a:gdLst/>
              <a:ahLst/>
              <a:cxnLst/>
              <a:rect r="r" b="b" t="t" l="l"/>
              <a:pathLst>
                <a:path h="431800" w="6149340">
                  <a:moveTo>
                    <a:pt x="614934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6148070" y="0"/>
                  </a:lnTo>
                  <a:lnTo>
                    <a:pt x="6149340" y="431800"/>
                  </a:lnTo>
                  <a:lnTo>
                    <a:pt x="6149340" y="43180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02870" y="10541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43180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431800" y="0"/>
                  </a:lnTo>
                  <a:lnTo>
                    <a:pt x="431800" y="43180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270" y="3810"/>
              <a:ext cx="635254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2540">
                  <a:moveTo>
                    <a:pt x="0" y="0"/>
                  </a:moveTo>
                  <a:lnTo>
                    <a:pt x="0" y="533400"/>
                  </a:lnTo>
                  <a:lnTo>
                    <a:pt x="0" y="635000"/>
                  </a:lnTo>
                  <a:lnTo>
                    <a:pt x="0" y="6350000"/>
                  </a:lnTo>
                  <a:lnTo>
                    <a:pt x="6352540" y="6350000"/>
                  </a:lnTo>
                  <a:lnTo>
                    <a:pt x="6352540" y="635000"/>
                  </a:lnTo>
                  <a:lnTo>
                    <a:pt x="6352540" y="533400"/>
                  </a:lnTo>
                  <a:lnTo>
                    <a:pt x="6352540" y="0"/>
                  </a:lnTo>
                  <a:lnTo>
                    <a:pt x="0" y="0"/>
                  </a:lnTo>
                  <a:close/>
                  <a:moveTo>
                    <a:pt x="101600" y="101600"/>
                  </a:moveTo>
                  <a:lnTo>
                    <a:pt x="533400" y="101600"/>
                  </a:lnTo>
                  <a:lnTo>
                    <a:pt x="533400" y="533400"/>
                  </a:lnTo>
                  <a:lnTo>
                    <a:pt x="101600" y="533400"/>
                  </a:lnTo>
                  <a:lnTo>
                    <a:pt x="101600" y="101600"/>
                  </a:lnTo>
                  <a:close/>
                  <a:moveTo>
                    <a:pt x="6249670" y="6248400"/>
                  </a:moveTo>
                  <a:lnTo>
                    <a:pt x="101600" y="6248400"/>
                  </a:lnTo>
                  <a:lnTo>
                    <a:pt x="101600" y="635000"/>
                  </a:lnTo>
                  <a:lnTo>
                    <a:pt x="635000" y="635000"/>
                  </a:lnTo>
                  <a:lnTo>
                    <a:pt x="6249670" y="635000"/>
                  </a:lnTo>
                  <a:lnTo>
                    <a:pt x="6249670" y="6248400"/>
                  </a:lnTo>
                  <a:lnTo>
                    <a:pt x="6249670" y="6248400"/>
                  </a:lnTo>
                  <a:lnTo>
                    <a:pt x="6249670" y="6248400"/>
                  </a:lnTo>
                  <a:close/>
                  <a:moveTo>
                    <a:pt x="6250940" y="533400"/>
                  </a:moveTo>
                  <a:lnTo>
                    <a:pt x="636270" y="533400"/>
                  </a:lnTo>
                  <a:lnTo>
                    <a:pt x="636270" y="101600"/>
                  </a:lnTo>
                  <a:lnTo>
                    <a:pt x="6250940" y="101600"/>
                  </a:lnTo>
                  <a:lnTo>
                    <a:pt x="6250940" y="533400"/>
                  </a:lnTo>
                  <a:close/>
                  <a:moveTo>
                    <a:pt x="373380" y="317500"/>
                  </a:moveTo>
                  <a:lnTo>
                    <a:pt x="472440" y="416560"/>
                  </a:lnTo>
                  <a:lnTo>
                    <a:pt x="417830" y="471170"/>
                  </a:lnTo>
                  <a:lnTo>
                    <a:pt x="317500" y="372110"/>
                  </a:lnTo>
                  <a:lnTo>
                    <a:pt x="218440" y="471170"/>
                  </a:lnTo>
                  <a:lnTo>
                    <a:pt x="163830" y="416560"/>
                  </a:lnTo>
                  <a:lnTo>
                    <a:pt x="262890" y="317500"/>
                  </a:lnTo>
                  <a:lnTo>
                    <a:pt x="163830" y="218440"/>
                  </a:lnTo>
                  <a:lnTo>
                    <a:pt x="218440" y="163830"/>
                  </a:lnTo>
                  <a:lnTo>
                    <a:pt x="317500" y="262890"/>
                  </a:lnTo>
                  <a:lnTo>
                    <a:pt x="416560" y="163830"/>
                  </a:lnTo>
                  <a:lnTo>
                    <a:pt x="472440" y="218440"/>
                  </a:lnTo>
                  <a:lnTo>
                    <a:pt x="373380" y="317500"/>
                  </a:lnTo>
                  <a:close/>
                </a:path>
              </a:pathLst>
            </a:custGeom>
            <a:solidFill>
              <a:srgbClr val="12366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816144" y="10029825"/>
            <a:ext cx="2791207" cy="842510"/>
            <a:chOff x="0" y="0"/>
            <a:chExt cx="735133" cy="2218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5133" cy="221896"/>
            </a:xfrm>
            <a:custGeom>
              <a:avLst/>
              <a:gdLst/>
              <a:ahLst/>
              <a:cxnLst/>
              <a:rect r="r" b="b" t="t" l="l"/>
              <a:pathLst>
                <a:path h="221896" w="735133">
                  <a:moveTo>
                    <a:pt x="531933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735133" y="221896"/>
                  </a:lnTo>
                  <a:lnTo>
                    <a:pt x="531933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01600" y="-38100"/>
              <a:ext cx="531933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-15442509" y="-105009"/>
            <a:ext cx="16912758" cy="1557251"/>
            <a:chOff x="0" y="0"/>
            <a:chExt cx="2409929" cy="2218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09929" cy="221896"/>
            </a:xfrm>
            <a:custGeom>
              <a:avLst/>
              <a:gdLst/>
              <a:ahLst/>
              <a:cxnLst/>
              <a:rect r="r" b="b" t="t" l="l"/>
              <a:pathLst>
                <a:path h="2218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2409929" y="2218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01600" y="-38100"/>
              <a:ext cx="220672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892362" y="6156748"/>
            <a:ext cx="3186893" cy="3186893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878694" y="6028387"/>
            <a:ext cx="1660029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TEAM 01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878694" y="6743700"/>
            <a:ext cx="5377586" cy="2514600"/>
            <a:chOff x="0" y="0"/>
            <a:chExt cx="7170114" cy="3352800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9525"/>
              <a:ext cx="6916540" cy="336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dc325182 – Che Chi Hin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dc325420 – Chang I Wai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dc325381 – Hoi Kai Cheng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dc325107 – Ho Weng Hong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dc325095 – Chung Hou Sam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dc325837 – Lei Man Lam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5458001" y="36012"/>
              <a:ext cx="1712114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Pair 07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5458001" y="874212"/>
              <a:ext cx="1712114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Pair 09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5458001" y="1712412"/>
              <a:ext cx="1712114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Pair 14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28700" y="3251845"/>
            <a:ext cx="8515566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  <a:spcBef>
                <a:spcPct val="0"/>
              </a:spcBef>
            </a:pPr>
            <a:r>
              <a:rPr lang="en-US" b="true" sz="6399">
                <a:solidFill>
                  <a:srgbClr val="00306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UM’S BICYCLE RENTAL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448538" y="3447538"/>
            <a:ext cx="10405520" cy="3273403"/>
          </a:xfrm>
          <a:custGeom>
            <a:avLst/>
            <a:gdLst/>
            <a:ahLst/>
            <a:cxnLst/>
            <a:rect r="r" b="b" t="t" l="l"/>
            <a:pathLst>
              <a:path h="3273403" w="10405520">
                <a:moveTo>
                  <a:pt x="0" y="0"/>
                </a:moveTo>
                <a:lnTo>
                  <a:pt x="10405520" y="0"/>
                </a:lnTo>
                <a:lnTo>
                  <a:pt x="10405520" y="3273404"/>
                </a:lnTo>
                <a:lnTo>
                  <a:pt x="0" y="3273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19175"/>
            <a:ext cx="7503921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TABLE OF CONTENT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849524"/>
            <a:ext cx="4955880" cy="723900"/>
            <a:chOff x="0" y="0"/>
            <a:chExt cx="6607840" cy="9652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835822" cy="974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671B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01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388716" y="17006"/>
              <a:ext cx="5219124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23664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Context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6188828"/>
            <a:ext cx="7132667" cy="723900"/>
            <a:chOff x="0" y="0"/>
            <a:chExt cx="9510222" cy="9652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1835822" cy="974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671B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04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388716" y="17006"/>
              <a:ext cx="8121506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23664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Tasks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3740820"/>
            <a:ext cx="7229635" cy="1212905"/>
            <a:chOff x="0" y="0"/>
            <a:chExt cx="9639514" cy="161720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9525"/>
              <a:ext cx="1835822" cy="974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671B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02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388716" y="17006"/>
              <a:ext cx="8250797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23664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Goals &amp; Objectives </a:t>
              </a:r>
            </a:p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23664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(BPMN,C4, UML)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7303253"/>
            <a:ext cx="4955880" cy="723900"/>
            <a:chOff x="0" y="0"/>
            <a:chExt cx="6607840" cy="96520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9525"/>
              <a:ext cx="1835822" cy="974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671B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05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388716" y="17006"/>
              <a:ext cx="5219124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23664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Challenges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5074403"/>
            <a:ext cx="6400981" cy="723900"/>
            <a:chOff x="0" y="0"/>
            <a:chExt cx="8534641" cy="96520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9525"/>
              <a:ext cx="1835822" cy="974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671B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03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388716" y="17006"/>
              <a:ext cx="714592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23664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Services &amp; Requirements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8417678"/>
            <a:ext cx="7329323" cy="723900"/>
            <a:chOff x="0" y="0"/>
            <a:chExt cx="9772430" cy="96520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9525"/>
              <a:ext cx="1835822" cy="974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671B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06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388716" y="17006"/>
              <a:ext cx="8383714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23664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Deliverables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8194919" y="-5772651"/>
            <a:ext cx="16912758" cy="1557251"/>
            <a:chOff x="0" y="0"/>
            <a:chExt cx="2409929" cy="2218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09929" cy="221896"/>
            </a:xfrm>
            <a:custGeom>
              <a:avLst/>
              <a:gdLst/>
              <a:ahLst/>
              <a:cxnLst/>
              <a:rect r="r" b="b" t="t" l="l"/>
              <a:pathLst>
                <a:path h="2218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2409929" y="2218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01600" y="-38100"/>
              <a:ext cx="220672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744199" y="1760444"/>
            <a:ext cx="4955880" cy="723900"/>
            <a:chOff x="0" y="0"/>
            <a:chExt cx="6607840" cy="965200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9525"/>
              <a:ext cx="1835822" cy="974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671B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07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388716" y="17006"/>
              <a:ext cx="5219124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23664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Division of Work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744199" y="2870898"/>
            <a:ext cx="4955880" cy="723900"/>
            <a:chOff x="0" y="0"/>
            <a:chExt cx="6607840" cy="965200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9525"/>
              <a:ext cx="1835822" cy="974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671B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08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388716" y="17006"/>
              <a:ext cx="5219124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23664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Contributions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744199" y="3985323"/>
            <a:ext cx="4955880" cy="723900"/>
            <a:chOff x="0" y="0"/>
            <a:chExt cx="6607840" cy="965200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-9525"/>
              <a:ext cx="1835822" cy="974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671B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09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388716" y="17006"/>
              <a:ext cx="5219124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23664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Criteria of Success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744199" y="5099748"/>
            <a:ext cx="4955880" cy="723900"/>
            <a:chOff x="0" y="0"/>
            <a:chExt cx="6607840" cy="965200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0" y="-9525"/>
              <a:ext cx="1835822" cy="974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671B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10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388716" y="17006"/>
              <a:ext cx="5219124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23664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Evaluation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744199" y="6214173"/>
            <a:ext cx="4955880" cy="1212905"/>
            <a:chOff x="0" y="0"/>
            <a:chExt cx="6607840" cy="1617206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0" y="-9525"/>
              <a:ext cx="1835822" cy="974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671B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11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388716" y="17006"/>
              <a:ext cx="5219124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23664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Learning (Individual) (Team)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744199" y="7665203"/>
            <a:ext cx="6252353" cy="723900"/>
            <a:chOff x="0" y="0"/>
            <a:chExt cx="8336471" cy="965200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0" y="-9525"/>
              <a:ext cx="2401138" cy="974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671B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12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1510189" y="82550"/>
              <a:ext cx="6826282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23664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Declaration of AI Usage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744199" y="8750327"/>
            <a:ext cx="6252353" cy="723900"/>
            <a:chOff x="0" y="0"/>
            <a:chExt cx="8336471" cy="965200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-9525"/>
              <a:ext cx="2401138" cy="974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671B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13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510189" y="82550"/>
              <a:ext cx="6826282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23664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Reference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1683" y="1028700"/>
            <a:ext cx="20455323" cy="8229600"/>
            <a:chOff x="0" y="0"/>
            <a:chExt cx="5387410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87410" cy="2167467"/>
            </a:xfrm>
            <a:custGeom>
              <a:avLst/>
              <a:gdLst/>
              <a:ahLst/>
              <a:cxnLst/>
              <a:rect r="r" b="b" t="t" l="l"/>
              <a:pathLst>
                <a:path h="2167467" w="5387410">
                  <a:moveTo>
                    <a:pt x="0" y="0"/>
                  </a:moveTo>
                  <a:lnTo>
                    <a:pt x="5387410" y="0"/>
                  </a:lnTo>
                  <a:lnTo>
                    <a:pt x="538741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387410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8973545" y="-6577070"/>
            <a:ext cx="16912758" cy="1557251"/>
            <a:chOff x="0" y="0"/>
            <a:chExt cx="2409929" cy="2218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09929" cy="221896"/>
            </a:xfrm>
            <a:custGeom>
              <a:avLst/>
              <a:gdLst/>
              <a:ahLst/>
              <a:cxnLst/>
              <a:rect r="r" b="b" t="t" l="l"/>
              <a:pathLst>
                <a:path h="2218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2409929" y="2218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20672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11448538" y="3447538"/>
            <a:ext cx="10405520" cy="3273403"/>
          </a:xfrm>
          <a:custGeom>
            <a:avLst/>
            <a:gdLst/>
            <a:ahLst/>
            <a:cxnLst/>
            <a:rect r="r" b="b" t="t" l="l"/>
            <a:pathLst>
              <a:path h="3273403" w="10405520">
                <a:moveTo>
                  <a:pt x="0" y="0"/>
                </a:moveTo>
                <a:lnTo>
                  <a:pt x="10405520" y="0"/>
                </a:lnTo>
                <a:lnTo>
                  <a:pt x="10405520" y="3273404"/>
                </a:lnTo>
                <a:lnTo>
                  <a:pt x="0" y="3273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30468" y="819154"/>
            <a:ext cx="3991351" cy="419092"/>
          </a:xfrm>
          <a:custGeom>
            <a:avLst/>
            <a:gdLst/>
            <a:ahLst/>
            <a:cxnLst/>
            <a:rect r="r" b="b" t="t" l="l"/>
            <a:pathLst>
              <a:path h="419092" w="3991351">
                <a:moveTo>
                  <a:pt x="0" y="0"/>
                </a:moveTo>
                <a:lnTo>
                  <a:pt x="3991351" y="0"/>
                </a:lnTo>
                <a:lnTo>
                  <a:pt x="3991351" y="419092"/>
                </a:lnTo>
                <a:lnTo>
                  <a:pt x="0" y="419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5400000">
            <a:off x="-8206305" y="-6799824"/>
            <a:ext cx="16912758" cy="1557251"/>
            <a:chOff x="0" y="0"/>
            <a:chExt cx="2409929" cy="2218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09929" cy="221896"/>
            </a:xfrm>
            <a:custGeom>
              <a:avLst/>
              <a:gdLst/>
              <a:ahLst/>
              <a:cxnLst/>
              <a:rect r="r" b="b" t="t" l="l"/>
              <a:pathLst>
                <a:path h="2218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2409929" y="2218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220672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6474847"/>
            <a:ext cx="11361624" cy="2242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Frontend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→ HTML, CSS, and JavaScript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Backend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→ PHP, running on a local XAMPP server environment,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                           InfinityFree (Free Web Hosting)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Database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→ MySQL in InfinityFree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283393" y="927230"/>
            <a:ext cx="8432540" cy="843254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76200" cap="sq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00BF63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2407286" y="4058027"/>
            <a:ext cx="2787759" cy="2191875"/>
          </a:xfrm>
          <a:custGeom>
            <a:avLst/>
            <a:gdLst/>
            <a:ahLst/>
            <a:cxnLst/>
            <a:rect r="r" b="b" t="t" l="l"/>
            <a:pathLst>
              <a:path h="2191875" w="2787759">
                <a:moveTo>
                  <a:pt x="0" y="0"/>
                </a:moveTo>
                <a:lnTo>
                  <a:pt x="2787759" y="0"/>
                </a:lnTo>
                <a:lnTo>
                  <a:pt x="2787759" y="2191876"/>
                </a:lnTo>
                <a:lnTo>
                  <a:pt x="0" y="21918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889887" y="1228721"/>
            <a:ext cx="5435051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CONTEXT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9792" y="3736727"/>
            <a:ext cx="9046352" cy="168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University of Macau (UM) campus is </a:t>
            </a:r>
            <a:r>
              <a:rPr lang="en-US" sz="3200" b="tru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large, making walking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between buildings</a:t>
            </a:r>
            <a:r>
              <a:rPr lang="en-US" sz="3200" b="tru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time-consuming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resulting in </a:t>
            </a:r>
            <a:r>
              <a:rPr lang="en-US" sz="3200" b="tru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informal, disorganized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bicycle usage.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1617" y="5760472"/>
            <a:ext cx="904303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tru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Web Application Architecture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3111" y="2774057"/>
            <a:ext cx="904303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tru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Background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24939" y="9359770"/>
            <a:ext cx="403502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dc325381 – Hoi Kai Cheng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745" y="1710075"/>
            <a:ext cx="13699276" cy="7548225"/>
            <a:chOff x="0" y="0"/>
            <a:chExt cx="3608040" cy="1988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08040" cy="1988010"/>
            </a:xfrm>
            <a:custGeom>
              <a:avLst/>
              <a:gdLst/>
              <a:ahLst/>
              <a:cxnLst/>
              <a:rect r="r" b="b" t="t" l="l"/>
              <a:pathLst>
                <a:path h="1988010" w="3608040">
                  <a:moveTo>
                    <a:pt x="0" y="0"/>
                  </a:moveTo>
                  <a:lnTo>
                    <a:pt x="3608040" y="0"/>
                  </a:lnTo>
                  <a:lnTo>
                    <a:pt x="3608040" y="1988010"/>
                  </a:lnTo>
                  <a:lnTo>
                    <a:pt x="0" y="1988010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608040" cy="2026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57532" y="-15412229"/>
            <a:ext cx="6205249" cy="16912758"/>
            <a:chOff x="0" y="0"/>
            <a:chExt cx="8273665" cy="22550344"/>
          </a:xfrm>
        </p:grpSpPr>
        <p:grpSp>
          <p:nvGrpSpPr>
            <p:cNvPr name="Group 6" id="6"/>
            <p:cNvGrpSpPr/>
            <p:nvPr/>
          </p:nvGrpSpPr>
          <p:grpSpPr>
            <a:xfrm rot="5400000">
              <a:off x="-6757496" y="7519183"/>
              <a:ext cx="22550344" cy="7511979"/>
              <a:chOff x="0" y="0"/>
              <a:chExt cx="2409929" cy="80279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409929" cy="802796"/>
              </a:xfrm>
              <a:custGeom>
                <a:avLst/>
                <a:gdLst/>
                <a:ahLst/>
                <a:cxnLst/>
                <a:rect r="r" b="b" t="t" l="l"/>
                <a:pathLst>
                  <a:path h="802796" w="2409929">
                    <a:moveTo>
                      <a:pt x="2206729" y="0"/>
                    </a:moveTo>
                    <a:lnTo>
                      <a:pt x="0" y="0"/>
                    </a:lnTo>
                    <a:lnTo>
                      <a:pt x="203200" y="802796"/>
                    </a:lnTo>
                    <a:lnTo>
                      <a:pt x="2409929" y="802796"/>
                    </a:lnTo>
                    <a:lnTo>
                      <a:pt x="2206729" y="0"/>
                    </a:lnTo>
                    <a:close/>
                  </a:path>
                </a:pathLst>
              </a:custGeom>
              <a:solidFill>
                <a:srgbClr val="27538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01600" y="-38100"/>
                <a:ext cx="2206729" cy="8408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-1524834" y="18105264"/>
              <a:ext cx="4573040" cy="1523373"/>
              <a:chOff x="0" y="0"/>
              <a:chExt cx="2409929" cy="80279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409929" cy="802796"/>
              </a:xfrm>
              <a:custGeom>
                <a:avLst/>
                <a:gdLst/>
                <a:ahLst/>
                <a:cxnLst/>
                <a:rect r="r" b="b" t="t" l="l"/>
                <a:pathLst>
                  <a:path h="802796" w="2409929">
                    <a:moveTo>
                      <a:pt x="2206729" y="0"/>
                    </a:moveTo>
                    <a:lnTo>
                      <a:pt x="0" y="0"/>
                    </a:lnTo>
                    <a:lnTo>
                      <a:pt x="203200" y="802796"/>
                    </a:lnTo>
                    <a:lnTo>
                      <a:pt x="2409929" y="802796"/>
                    </a:lnTo>
                    <a:lnTo>
                      <a:pt x="2206729" y="0"/>
                    </a:lnTo>
                    <a:close/>
                  </a:path>
                </a:pathLst>
              </a:custGeom>
              <a:solidFill>
                <a:srgbClr val="3671B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01600" y="-38100"/>
                <a:ext cx="2206729" cy="8408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054555" y="3524605"/>
            <a:ext cx="7056969" cy="1142530"/>
            <a:chOff x="0" y="0"/>
            <a:chExt cx="4958567" cy="8027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58567" cy="802796"/>
            </a:xfrm>
            <a:custGeom>
              <a:avLst/>
              <a:gdLst/>
              <a:ahLst/>
              <a:cxnLst/>
              <a:rect r="r" b="b" t="t" l="l"/>
              <a:pathLst>
                <a:path h="802796" w="4958567">
                  <a:moveTo>
                    <a:pt x="4755367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4958567" y="802796"/>
                  </a:lnTo>
                  <a:lnTo>
                    <a:pt x="4755367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4755367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15983469" y="9947554"/>
            <a:ext cx="5199141" cy="1142530"/>
            <a:chOff x="0" y="0"/>
            <a:chExt cx="3653167" cy="8027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3167" cy="802796"/>
            </a:xfrm>
            <a:custGeom>
              <a:avLst/>
              <a:gdLst/>
              <a:ahLst/>
              <a:cxnLst/>
              <a:rect r="r" b="b" t="t" l="l"/>
              <a:pathLst>
                <a:path h="802796" w="3653167">
                  <a:moveTo>
                    <a:pt x="3449967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3653167" y="802796"/>
                  </a:lnTo>
                  <a:lnTo>
                    <a:pt x="3449967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38100"/>
              <a:ext cx="3449967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-966069" y="1290984"/>
            <a:ext cx="3991351" cy="419092"/>
          </a:xfrm>
          <a:custGeom>
            <a:avLst/>
            <a:gdLst/>
            <a:ahLst/>
            <a:cxnLst/>
            <a:rect r="r" b="b" t="t" l="l"/>
            <a:pathLst>
              <a:path h="419092" w="3991351">
                <a:moveTo>
                  <a:pt x="0" y="0"/>
                </a:moveTo>
                <a:lnTo>
                  <a:pt x="3991351" y="0"/>
                </a:lnTo>
                <a:lnTo>
                  <a:pt x="3991351" y="419091"/>
                </a:lnTo>
                <a:lnTo>
                  <a:pt x="0" y="419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101566" y="964579"/>
            <a:ext cx="2495285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599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GOALS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5185635"/>
            <a:ext cx="904303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tru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System Goals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9607" y="2553131"/>
            <a:ext cx="904303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tru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Primary Objective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9730" y="3433885"/>
            <a:ext cx="9046352" cy="111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provide a conv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enien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 "las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t-mile"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transport 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option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helps users move efficiently across the campus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4956" y="6071460"/>
            <a:ext cx="10790360" cy="228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 a platform  </a:t>
            </a:r>
            <a:r>
              <a:rPr lang="en-US" sz="3499" b="tru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(register/log in/manage rental accounts)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core operations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→ searching, renting, returning, and viewing history.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administrators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→ manage vehicles, stations, and accounts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344639" y="2345025"/>
            <a:ext cx="5100096" cy="3139163"/>
            <a:chOff x="0" y="0"/>
            <a:chExt cx="6800128" cy="418555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423709" y="560105"/>
              <a:ext cx="6376419" cy="3625445"/>
              <a:chOff x="0" y="0"/>
              <a:chExt cx="1259540" cy="71613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9539" cy="716137"/>
              </a:xfrm>
              <a:custGeom>
                <a:avLst/>
                <a:gdLst/>
                <a:ahLst/>
                <a:cxnLst/>
                <a:rect r="r" b="b" t="t" l="l"/>
                <a:pathLst>
                  <a:path h="716137" w="1259539">
                    <a:moveTo>
                      <a:pt x="0" y="0"/>
                    </a:moveTo>
                    <a:lnTo>
                      <a:pt x="1259539" y="0"/>
                    </a:lnTo>
                    <a:lnTo>
                      <a:pt x="1259539" y="716137"/>
                    </a:lnTo>
                    <a:lnTo>
                      <a:pt x="0" y="716137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3060">
                      <a:alpha val="100000"/>
                    </a:srgbClr>
                  </a:gs>
                  <a:gs pos="100000">
                    <a:srgbClr val="003060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1259540" cy="7732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500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6517581" cy="3804931"/>
              <a:chOff x="0" y="0"/>
              <a:chExt cx="1313155" cy="76661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313155" cy="766613"/>
              </a:xfrm>
              <a:custGeom>
                <a:avLst/>
                <a:gdLst/>
                <a:ahLst/>
                <a:cxnLst/>
                <a:rect r="r" b="b" t="t" l="l"/>
                <a:pathLst>
                  <a:path h="766613" w="1313155">
                    <a:moveTo>
                      <a:pt x="0" y="0"/>
                    </a:moveTo>
                    <a:lnTo>
                      <a:pt x="1313155" y="0"/>
                    </a:lnTo>
                    <a:lnTo>
                      <a:pt x="1313155" y="766613"/>
                    </a:lnTo>
                    <a:lnTo>
                      <a:pt x="0" y="766613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210" t="0" r="-1210" b="0"/>
                </a:stretch>
              </a:blipFill>
            </p:spPr>
          </p:sp>
        </p:grpSp>
      </p:grpSp>
      <p:grpSp>
        <p:nvGrpSpPr>
          <p:cNvPr name="Group 30" id="30"/>
          <p:cNvGrpSpPr/>
          <p:nvPr/>
        </p:nvGrpSpPr>
        <p:grpSpPr>
          <a:xfrm rot="0">
            <a:off x="11625316" y="6138135"/>
            <a:ext cx="5106164" cy="3139163"/>
            <a:chOff x="0" y="0"/>
            <a:chExt cx="6808219" cy="418555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431800" y="560105"/>
              <a:ext cx="6376419" cy="3625445"/>
              <a:chOff x="0" y="0"/>
              <a:chExt cx="1259540" cy="71613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9539" cy="716137"/>
              </a:xfrm>
              <a:custGeom>
                <a:avLst/>
                <a:gdLst/>
                <a:ahLst/>
                <a:cxnLst/>
                <a:rect r="r" b="b" t="t" l="l"/>
                <a:pathLst>
                  <a:path h="716137" w="1259539">
                    <a:moveTo>
                      <a:pt x="0" y="0"/>
                    </a:moveTo>
                    <a:lnTo>
                      <a:pt x="1259539" y="0"/>
                    </a:lnTo>
                    <a:lnTo>
                      <a:pt x="1259539" y="716137"/>
                    </a:lnTo>
                    <a:lnTo>
                      <a:pt x="0" y="716137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3060">
                      <a:alpha val="100000"/>
                    </a:srgbClr>
                  </a:gs>
                  <a:gs pos="100000">
                    <a:srgbClr val="003060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1259540" cy="7732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50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0"/>
              <a:ext cx="6517581" cy="3804931"/>
              <a:chOff x="0" y="0"/>
              <a:chExt cx="1313155" cy="76661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313155" cy="766613"/>
              </a:xfrm>
              <a:custGeom>
                <a:avLst/>
                <a:gdLst/>
                <a:ahLst/>
                <a:cxnLst/>
                <a:rect r="r" b="b" t="t" l="l"/>
                <a:pathLst>
                  <a:path h="766613" w="1313155">
                    <a:moveTo>
                      <a:pt x="0" y="0"/>
                    </a:moveTo>
                    <a:lnTo>
                      <a:pt x="1313155" y="0"/>
                    </a:lnTo>
                    <a:lnTo>
                      <a:pt x="1313155" y="766613"/>
                    </a:lnTo>
                    <a:lnTo>
                      <a:pt x="0" y="766613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210" t="0" r="-1210" b="0"/>
                </a:stretch>
              </a:blipFill>
            </p:spPr>
          </p:sp>
        </p:grpSp>
      </p:grpSp>
      <p:sp>
        <p:nvSpPr>
          <p:cNvPr name="TextBox 36" id="36"/>
          <p:cNvSpPr txBox="true"/>
          <p:nvPr/>
        </p:nvSpPr>
        <p:spPr>
          <a:xfrm rot="0">
            <a:off x="7324939" y="9359770"/>
            <a:ext cx="403502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dc325381 – Hoi Kai Cheng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745" y="1710075"/>
            <a:ext cx="13699276" cy="7548225"/>
            <a:chOff x="0" y="0"/>
            <a:chExt cx="3608040" cy="1988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08040" cy="1988010"/>
            </a:xfrm>
            <a:custGeom>
              <a:avLst/>
              <a:gdLst/>
              <a:ahLst/>
              <a:cxnLst/>
              <a:rect r="r" b="b" t="t" l="l"/>
              <a:pathLst>
                <a:path h="1988010" w="3608040">
                  <a:moveTo>
                    <a:pt x="0" y="0"/>
                  </a:moveTo>
                  <a:lnTo>
                    <a:pt x="3608040" y="0"/>
                  </a:lnTo>
                  <a:lnTo>
                    <a:pt x="3608040" y="1988010"/>
                  </a:lnTo>
                  <a:lnTo>
                    <a:pt x="0" y="1988010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608040" cy="2026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57532" y="-15412229"/>
            <a:ext cx="6205249" cy="16912758"/>
            <a:chOff x="0" y="0"/>
            <a:chExt cx="8273665" cy="22550344"/>
          </a:xfrm>
        </p:grpSpPr>
        <p:grpSp>
          <p:nvGrpSpPr>
            <p:cNvPr name="Group 6" id="6"/>
            <p:cNvGrpSpPr/>
            <p:nvPr/>
          </p:nvGrpSpPr>
          <p:grpSpPr>
            <a:xfrm rot="5400000">
              <a:off x="-6757496" y="7519183"/>
              <a:ext cx="22550344" cy="7511979"/>
              <a:chOff x="0" y="0"/>
              <a:chExt cx="2409929" cy="80279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409929" cy="802796"/>
              </a:xfrm>
              <a:custGeom>
                <a:avLst/>
                <a:gdLst/>
                <a:ahLst/>
                <a:cxnLst/>
                <a:rect r="r" b="b" t="t" l="l"/>
                <a:pathLst>
                  <a:path h="802796" w="2409929">
                    <a:moveTo>
                      <a:pt x="2206729" y="0"/>
                    </a:moveTo>
                    <a:lnTo>
                      <a:pt x="0" y="0"/>
                    </a:lnTo>
                    <a:lnTo>
                      <a:pt x="203200" y="802796"/>
                    </a:lnTo>
                    <a:lnTo>
                      <a:pt x="2409929" y="802796"/>
                    </a:lnTo>
                    <a:lnTo>
                      <a:pt x="2206729" y="0"/>
                    </a:lnTo>
                    <a:close/>
                  </a:path>
                </a:pathLst>
              </a:custGeom>
              <a:solidFill>
                <a:srgbClr val="27538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01600" y="-38100"/>
                <a:ext cx="2206729" cy="8408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-1524834" y="18105264"/>
              <a:ext cx="4573040" cy="1523373"/>
              <a:chOff x="0" y="0"/>
              <a:chExt cx="2409929" cy="80279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409929" cy="802796"/>
              </a:xfrm>
              <a:custGeom>
                <a:avLst/>
                <a:gdLst/>
                <a:ahLst/>
                <a:cxnLst/>
                <a:rect r="r" b="b" t="t" l="l"/>
                <a:pathLst>
                  <a:path h="802796" w="2409929">
                    <a:moveTo>
                      <a:pt x="2206729" y="0"/>
                    </a:moveTo>
                    <a:lnTo>
                      <a:pt x="0" y="0"/>
                    </a:lnTo>
                    <a:lnTo>
                      <a:pt x="203200" y="802796"/>
                    </a:lnTo>
                    <a:lnTo>
                      <a:pt x="2409929" y="802796"/>
                    </a:lnTo>
                    <a:lnTo>
                      <a:pt x="2206729" y="0"/>
                    </a:lnTo>
                    <a:close/>
                  </a:path>
                </a:pathLst>
              </a:custGeom>
              <a:solidFill>
                <a:srgbClr val="3671B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01600" y="-38100"/>
                <a:ext cx="2206729" cy="8408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054555" y="3524605"/>
            <a:ext cx="7056969" cy="1142530"/>
            <a:chOff x="0" y="0"/>
            <a:chExt cx="4958567" cy="8027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58567" cy="802796"/>
            </a:xfrm>
            <a:custGeom>
              <a:avLst/>
              <a:gdLst/>
              <a:ahLst/>
              <a:cxnLst/>
              <a:rect r="r" b="b" t="t" l="l"/>
              <a:pathLst>
                <a:path h="802796" w="4958567">
                  <a:moveTo>
                    <a:pt x="4755367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4958567" y="802796"/>
                  </a:lnTo>
                  <a:lnTo>
                    <a:pt x="4755367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4755367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15983469" y="9947554"/>
            <a:ext cx="5199141" cy="1142530"/>
            <a:chOff x="0" y="0"/>
            <a:chExt cx="3653167" cy="8027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3167" cy="802796"/>
            </a:xfrm>
            <a:custGeom>
              <a:avLst/>
              <a:gdLst/>
              <a:ahLst/>
              <a:cxnLst/>
              <a:rect r="r" b="b" t="t" l="l"/>
              <a:pathLst>
                <a:path h="802796" w="3653167">
                  <a:moveTo>
                    <a:pt x="3449967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3653167" y="802796"/>
                  </a:lnTo>
                  <a:lnTo>
                    <a:pt x="3449967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38100"/>
              <a:ext cx="3449967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-966069" y="1290984"/>
            <a:ext cx="3991351" cy="419092"/>
          </a:xfrm>
          <a:custGeom>
            <a:avLst/>
            <a:gdLst/>
            <a:ahLst/>
            <a:cxnLst/>
            <a:rect r="r" b="b" t="t" l="l"/>
            <a:pathLst>
              <a:path h="419092" w="3991351">
                <a:moveTo>
                  <a:pt x="0" y="0"/>
                </a:moveTo>
                <a:lnTo>
                  <a:pt x="3991351" y="0"/>
                </a:lnTo>
                <a:lnTo>
                  <a:pt x="3991351" y="419091"/>
                </a:lnTo>
                <a:lnTo>
                  <a:pt x="0" y="419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75605" y="1500529"/>
            <a:ext cx="23268837" cy="4135645"/>
          </a:xfrm>
          <a:custGeom>
            <a:avLst/>
            <a:gdLst/>
            <a:ahLst/>
            <a:cxnLst/>
            <a:rect r="r" b="b" t="t" l="l"/>
            <a:pathLst>
              <a:path h="4135645" w="23268837">
                <a:moveTo>
                  <a:pt x="0" y="0"/>
                </a:moveTo>
                <a:lnTo>
                  <a:pt x="23268836" y="0"/>
                </a:lnTo>
                <a:lnTo>
                  <a:pt x="23268836" y="4135645"/>
                </a:lnTo>
                <a:lnTo>
                  <a:pt x="0" y="41356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9597360" y="5802942"/>
            <a:ext cx="21937812" cy="3899078"/>
          </a:xfrm>
          <a:custGeom>
            <a:avLst/>
            <a:gdLst/>
            <a:ahLst/>
            <a:cxnLst/>
            <a:rect r="r" b="b" t="t" l="l"/>
            <a:pathLst>
              <a:path h="3899078" w="21937812">
                <a:moveTo>
                  <a:pt x="0" y="0"/>
                </a:moveTo>
                <a:lnTo>
                  <a:pt x="21937812" y="0"/>
                </a:lnTo>
                <a:lnTo>
                  <a:pt x="21937812" y="3899077"/>
                </a:lnTo>
                <a:lnTo>
                  <a:pt x="0" y="3899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373082" y="281334"/>
            <a:ext cx="2495285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599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BPMN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10023" y="7881148"/>
            <a:ext cx="403502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dc325381 – Hoi Kai Cheng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745" y="1710075"/>
            <a:ext cx="13699276" cy="7548225"/>
            <a:chOff x="0" y="0"/>
            <a:chExt cx="3608040" cy="1988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08040" cy="1988010"/>
            </a:xfrm>
            <a:custGeom>
              <a:avLst/>
              <a:gdLst/>
              <a:ahLst/>
              <a:cxnLst/>
              <a:rect r="r" b="b" t="t" l="l"/>
              <a:pathLst>
                <a:path h="1988010" w="3608040">
                  <a:moveTo>
                    <a:pt x="0" y="0"/>
                  </a:moveTo>
                  <a:lnTo>
                    <a:pt x="3608040" y="0"/>
                  </a:lnTo>
                  <a:lnTo>
                    <a:pt x="3608040" y="1988010"/>
                  </a:lnTo>
                  <a:lnTo>
                    <a:pt x="0" y="1988010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608040" cy="2026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57532" y="-15412229"/>
            <a:ext cx="6205249" cy="16912758"/>
            <a:chOff x="0" y="0"/>
            <a:chExt cx="8273665" cy="22550344"/>
          </a:xfrm>
        </p:grpSpPr>
        <p:grpSp>
          <p:nvGrpSpPr>
            <p:cNvPr name="Group 6" id="6"/>
            <p:cNvGrpSpPr/>
            <p:nvPr/>
          </p:nvGrpSpPr>
          <p:grpSpPr>
            <a:xfrm rot="5400000">
              <a:off x="-6757496" y="7519183"/>
              <a:ext cx="22550344" cy="7511979"/>
              <a:chOff x="0" y="0"/>
              <a:chExt cx="2409929" cy="80279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409929" cy="802796"/>
              </a:xfrm>
              <a:custGeom>
                <a:avLst/>
                <a:gdLst/>
                <a:ahLst/>
                <a:cxnLst/>
                <a:rect r="r" b="b" t="t" l="l"/>
                <a:pathLst>
                  <a:path h="802796" w="2409929">
                    <a:moveTo>
                      <a:pt x="2206729" y="0"/>
                    </a:moveTo>
                    <a:lnTo>
                      <a:pt x="0" y="0"/>
                    </a:lnTo>
                    <a:lnTo>
                      <a:pt x="203200" y="802796"/>
                    </a:lnTo>
                    <a:lnTo>
                      <a:pt x="2409929" y="802796"/>
                    </a:lnTo>
                    <a:lnTo>
                      <a:pt x="2206729" y="0"/>
                    </a:lnTo>
                    <a:close/>
                  </a:path>
                </a:pathLst>
              </a:custGeom>
              <a:solidFill>
                <a:srgbClr val="27538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01600" y="-38100"/>
                <a:ext cx="2206729" cy="8408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-1524834" y="18105264"/>
              <a:ext cx="4573040" cy="1523373"/>
              <a:chOff x="0" y="0"/>
              <a:chExt cx="2409929" cy="80279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409929" cy="802796"/>
              </a:xfrm>
              <a:custGeom>
                <a:avLst/>
                <a:gdLst/>
                <a:ahLst/>
                <a:cxnLst/>
                <a:rect r="r" b="b" t="t" l="l"/>
                <a:pathLst>
                  <a:path h="802796" w="2409929">
                    <a:moveTo>
                      <a:pt x="2206729" y="0"/>
                    </a:moveTo>
                    <a:lnTo>
                      <a:pt x="0" y="0"/>
                    </a:lnTo>
                    <a:lnTo>
                      <a:pt x="203200" y="802796"/>
                    </a:lnTo>
                    <a:lnTo>
                      <a:pt x="2409929" y="802796"/>
                    </a:lnTo>
                    <a:lnTo>
                      <a:pt x="2206729" y="0"/>
                    </a:lnTo>
                    <a:close/>
                  </a:path>
                </a:pathLst>
              </a:custGeom>
              <a:solidFill>
                <a:srgbClr val="3671B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01600" y="-38100"/>
                <a:ext cx="2206729" cy="8408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054555" y="3524605"/>
            <a:ext cx="7056969" cy="1142530"/>
            <a:chOff x="0" y="0"/>
            <a:chExt cx="4958567" cy="8027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58567" cy="802796"/>
            </a:xfrm>
            <a:custGeom>
              <a:avLst/>
              <a:gdLst/>
              <a:ahLst/>
              <a:cxnLst/>
              <a:rect r="r" b="b" t="t" l="l"/>
              <a:pathLst>
                <a:path h="802796" w="4958567">
                  <a:moveTo>
                    <a:pt x="4755367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4958567" y="802796"/>
                  </a:lnTo>
                  <a:lnTo>
                    <a:pt x="4755367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4755367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15983469" y="9947554"/>
            <a:ext cx="5199141" cy="1142530"/>
            <a:chOff x="0" y="0"/>
            <a:chExt cx="3653167" cy="8027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3167" cy="802796"/>
            </a:xfrm>
            <a:custGeom>
              <a:avLst/>
              <a:gdLst/>
              <a:ahLst/>
              <a:cxnLst/>
              <a:rect r="r" b="b" t="t" l="l"/>
              <a:pathLst>
                <a:path h="802796" w="3653167">
                  <a:moveTo>
                    <a:pt x="3449967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3653167" y="802796"/>
                  </a:lnTo>
                  <a:lnTo>
                    <a:pt x="3449967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38100"/>
              <a:ext cx="3449967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-966069" y="1290984"/>
            <a:ext cx="3991351" cy="419092"/>
          </a:xfrm>
          <a:custGeom>
            <a:avLst/>
            <a:gdLst/>
            <a:ahLst/>
            <a:cxnLst/>
            <a:rect r="r" b="b" t="t" l="l"/>
            <a:pathLst>
              <a:path h="419092" w="3991351">
                <a:moveTo>
                  <a:pt x="0" y="0"/>
                </a:moveTo>
                <a:lnTo>
                  <a:pt x="3991351" y="0"/>
                </a:lnTo>
                <a:lnTo>
                  <a:pt x="3991351" y="419091"/>
                </a:lnTo>
                <a:lnTo>
                  <a:pt x="0" y="419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48244" y="1791046"/>
            <a:ext cx="6889048" cy="8010521"/>
          </a:xfrm>
          <a:custGeom>
            <a:avLst/>
            <a:gdLst/>
            <a:ahLst/>
            <a:cxnLst/>
            <a:rect r="r" b="b" t="t" l="l"/>
            <a:pathLst>
              <a:path h="8010521" w="6889048">
                <a:moveTo>
                  <a:pt x="0" y="0"/>
                </a:moveTo>
                <a:lnTo>
                  <a:pt x="6889047" y="0"/>
                </a:lnTo>
                <a:lnTo>
                  <a:pt x="6889047" y="8010521"/>
                </a:lnTo>
                <a:lnTo>
                  <a:pt x="0" y="80105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137291" y="5274733"/>
            <a:ext cx="10874484" cy="3343904"/>
          </a:xfrm>
          <a:custGeom>
            <a:avLst/>
            <a:gdLst/>
            <a:ahLst/>
            <a:cxnLst/>
            <a:rect r="r" b="b" t="t" l="l"/>
            <a:pathLst>
              <a:path h="3343904" w="10874484">
                <a:moveTo>
                  <a:pt x="0" y="0"/>
                </a:moveTo>
                <a:lnTo>
                  <a:pt x="10874484" y="0"/>
                </a:lnTo>
                <a:lnTo>
                  <a:pt x="10874484" y="3343904"/>
                </a:lnTo>
                <a:lnTo>
                  <a:pt x="0" y="33439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284931" y="781396"/>
            <a:ext cx="10012952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599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SYSTEM CONTEXT DIAGRAM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24939" y="9359770"/>
            <a:ext cx="403502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dc325381 – Hoi Kai Cheng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03295" y="210998"/>
            <a:ext cx="7316109" cy="9865003"/>
          </a:xfrm>
          <a:custGeom>
            <a:avLst/>
            <a:gdLst/>
            <a:ahLst/>
            <a:cxnLst/>
            <a:rect r="r" b="b" t="t" l="l"/>
            <a:pathLst>
              <a:path h="9865003" w="7316109">
                <a:moveTo>
                  <a:pt x="0" y="0"/>
                </a:moveTo>
                <a:lnTo>
                  <a:pt x="7316109" y="0"/>
                </a:lnTo>
                <a:lnTo>
                  <a:pt x="7316109" y="9865004"/>
                </a:lnTo>
                <a:lnTo>
                  <a:pt x="0" y="98650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3" r="0" b="-92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4742" y="3781260"/>
            <a:ext cx="8142177" cy="2242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diagram showcases the high-level architecture, showing how the PHP Backend connects the Frontend to the MySQL Database.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48166" y="9220200"/>
            <a:ext cx="403502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dc325381 – Hoi Kai Cheng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5561" y="350137"/>
            <a:ext cx="15443479" cy="8518377"/>
          </a:xfrm>
          <a:custGeom>
            <a:avLst/>
            <a:gdLst/>
            <a:ahLst/>
            <a:cxnLst/>
            <a:rect r="r" b="b" t="t" l="l"/>
            <a:pathLst>
              <a:path h="8518377" w="15443479">
                <a:moveTo>
                  <a:pt x="0" y="0"/>
                </a:moveTo>
                <a:lnTo>
                  <a:pt x="15443479" y="0"/>
                </a:lnTo>
                <a:lnTo>
                  <a:pt x="15443479" y="8518377"/>
                </a:lnTo>
                <a:lnTo>
                  <a:pt x="0" y="851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51491" y="9371383"/>
            <a:ext cx="15385018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diagram maps out the full functional scope for both Campus Users and Administrators.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92695" y="8830414"/>
            <a:ext cx="412456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dc325107 –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 Weng Hong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22222" y="189913"/>
            <a:ext cx="12843556" cy="8648209"/>
          </a:xfrm>
          <a:custGeom>
            <a:avLst/>
            <a:gdLst/>
            <a:ahLst/>
            <a:cxnLst/>
            <a:rect r="r" b="b" t="t" l="l"/>
            <a:pathLst>
              <a:path h="8648209" w="12843556">
                <a:moveTo>
                  <a:pt x="0" y="0"/>
                </a:moveTo>
                <a:lnTo>
                  <a:pt x="12843556" y="0"/>
                </a:lnTo>
                <a:lnTo>
                  <a:pt x="12843556" y="8648209"/>
                </a:lnTo>
                <a:lnTo>
                  <a:pt x="0" y="86482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4543" y="8941753"/>
            <a:ext cx="17278914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diagram defines the database entities and their relational attributes to ensure data normalization.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011522" y="990600"/>
            <a:ext cx="412456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dc325107 –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 Weng Hong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99828" y="9096375"/>
            <a:ext cx="14038876" cy="3707664"/>
            <a:chOff x="0" y="0"/>
            <a:chExt cx="840196" cy="2218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0196" cy="221896"/>
            </a:xfrm>
            <a:custGeom>
              <a:avLst/>
              <a:gdLst/>
              <a:ahLst/>
              <a:cxnLst/>
              <a:rect r="r" b="b" t="t" l="l"/>
              <a:pathLst>
                <a:path h="221896" w="840196">
                  <a:moveTo>
                    <a:pt x="636996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840196" y="221896"/>
                  </a:lnTo>
                  <a:lnTo>
                    <a:pt x="636996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636996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50968" y="9712581"/>
            <a:ext cx="3959336" cy="1630467"/>
            <a:chOff x="0" y="0"/>
            <a:chExt cx="538839" cy="2218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8839" cy="221896"/>
            </a:xfrm>
            <a:custGeom>
              <a:avLst/>
              <a:gdLst/>
              <a:ahLst/>
              <a:cxnLst/>
              <a:rect r="r" b="b" t="t" l="l"/>
              <a:pathLst>
                <a:path h="221896" w="538839">
                  <a:moveTo>
                    <a:pt x="33563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538839" y="221896"/>
                  </a:lnTo>
                  <a:lnTo>
                    <a:pt x="335639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33563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399828" y="-883089"/>
            <a:ext cx="22040911" cy="1766178"/>
            <a:chOff x="0" y="0"/>
            <a:chExt cx="29387881" cy="235490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279115" cy="2173956"/>
              <a:chOff x="0" y="0"/>
              <a:chExt cx="538839" cy="22189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38839" cy="221896"/>
              </a:xfrm>
              <a:custGeom>
                <a:avLst/>
                <a:gdLst/>
                <a:ahLst/>
                <a:cxnLst/>
                <a:rect r="r" b="b" t="t" l="l"/>
                <a:pathLst>
                  <a:path h="221896" w="538839">
                    <a:moveTo>
                      <a:pt x="335639" y="0"/>
                    </a:moveTo>
                    <a:lnTo>
                      <a:pt x="0" y="0"/>
                    </a:lnTo>
                    <a:lnTo>
                      <a:pt x="203200" y="221896"/>
                    </a:lnTo>
                    <a:lnTo>
                      <a:pt x="538839" y="221896"/>
                    </a:lnTo>
                    <a:lnTo>
                      <a:pt x="335639" y="0"/>
                    </a:lnTo>
                    <a:close/>
                  </a:path>
                </a:pathLst>
              </a:custGeom>
              <a:solidFill>
                <a:srgbClr val="3671B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01600" y="-38100"/>
                <a:ext cx="335639" cy="2599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true" flipV="false" rot="0">
              <a:off x="16521382" y="682260"/>
              <a:ext cx="12866499" cy="1672645"/>
            </a:xfrm>
            <a:custGeom>
              <a:avLst/>
              <a:gdLst/>
              <a:ahLst/>
              <a:cxnLst/>
              <a:rect r="r" b="b" t="t" l="l"/>
              <a:pathLst>
                <a:path h="1672645" w="12866499">
                  <a:moveTo>
                    <a:pt x="12866499" y="0"/>
                  </a:moveTo>
                  <a:lnTo>
                    <a:pt x="0" y="0"/>
                  </a:lnTo>
                  <a:lnTo>
                    <a:pt x="0" y="1672645"/>
                  </a:lnTo>
                  <a:lnTo>
                    <a:pt x="12866499" y="1672645"/>
                  </a:lnTo>
                  <a:lnTo>
                    <a:pt x="1286649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3" id="13"/>
            <p:cNvGrpSpPr/>
            <p:nvPr/>
          </p:nvGrpSpPr>
          <p:grpSpPr>
            <a:xfrm rot="0">
              <a:off x="3766629" y="95187"/>
              <a:ext cx="13962941" cy="1123346"/>
              <a:chOff x="0" y="0"/>
              <a:chExt cx="2758112" cy="22189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758112" cy="221896"/>
              </a:xfrm>
              <a:custGeom>
                <a:avLst/>
                <a:gdLst/>
                <a:ahLst/>
                <a:cxnLst/>
                <a:rect r="r" b="b" t="t" l="l"/>
                <a:pathLst>
                  <a:path h="221896" w="2758112">
                    <a:moveTo>
                      <a:pt x="2554912" y="0"/>
                    </a:moveTo>
                    <a:lnTo>
                      <a:pt x="0" y="0"/>
                    </a:lnTo>
                    <a:lnTo>
                      <a:pt x="203200" y="221896"/>
                    </a:lnTo>
                    <a:lnTo>
                      <a:pt x="2758112" y="221896"/>
                    </a:lnTo>
                    <a:lnTo>
                      <a:pt x="2554912" y="0"/>
                    </a:lnTo>
                    <a:close/>
                  </a:path>
                </a:pathLst>
              </a:custGeom>
              <a:solidFill>
                <a:srgbClr val="3671B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554912" cy="2599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003881" y="1442382"/>
              <a:ext cx="13316792" cy="666868"/>
              <a:chOff x="0" y="0"/>
              <a:chExt cx="4431069" cy="22189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431069" cy="221896"/>
              </a:xfrm>
              <a:custGeom>
                <a:avLst/>
                <a:gdLst/>
                <a:ahLst/>
                <a:cxnLst/>
                <a:rect r="r" b="b" t="t" l="l"/>
                <a:pathLst>
                  <a:path h="221896" w="4431069">
                    <a:moveTo>
                      <a:pt x="4227869" y="0"/>
                    </a:moveTo>
                    <a:lnTo>
                      <a:pt x="0" y="0"/>
                    </a:lnTo>
                    <a:lnTo>
                      <a:pt x="203200" y="221896"/>
                    </a:lnTo>
                    <a:lnTo>
                      <a:pt x="4431069" y="221896"/>
                    </a:lnTo>
                    <a:lnTo>
                      <a:pt x="4227869" y="0"/>
                    </a:lnTo>
                    <a:close/>
                  </a:path>
                </a:pathLst>
              </a:custGeom>
              <a:solidFill>
                <a:srgbClr val="12366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4227869" cy="2599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-2247428" y="9248775"/>
            <a:ext cx="14038876" cy="3707664"/>
            <a:chOff x="0" y="0"/>
            <a:chExt cx="840196" cy="2218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40196" cy="221896"/>
            </a:xfrm>
            <a:custGeom>
              <a:avLst/>
              <a:gdLst/>
              <a:ahLst/>
              <a:cxnLst/>
              <a:rect r="r" b="b" t="t" l="l"/>
              <a:pathLst>
                <a:path h="221896" w="840196">
                  <a:moveTo>
                    <a:pt x="636996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840196" y="221896"/>
                  </a:lnTo>
                  <a:lnTo>
                    <a:pt x="636996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01600" y="-38100"/>
              <a:ext cx="636996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32295" y="9864981"/>
            <a:ext cx="11424871" cy="769470"/>
            <a:chOff x="0" y="0"/>
            <a:chExt cx="3294642" cy="2218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94642" cy="221896"/>
            </a:xfrm>
            <a:custGeom>
              <a:avLst/>
              <a:gdLst/>
              <a:ahLst/>
              <a:cxnLst/>
              <a:rect r="r" b="b" t="t" l="l"/>
              <a:pathLst>
                <a:path h="221896" w="3294642">
                  <a:moveTo>
                    <a:pt x="3091442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3294642" y="221896"/>
                  </a:lnTo>
                  <a:lnTo>
                    <a:pt x="3091442" y="0"/>
                  </a:lnTo>
                  <a:close/>
                </a:path>
              </a:pathLst>
            </a:custGeom>
            <a:solidFill>
              <a:srgbClr val="12366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01600" y="-38100"/>
              <a:ext cx="3091442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-798568" y="9864981"/>
            <a:ext cx="3959336" cy="1630467"/>
            <a:chOff x="0" y="0"/>
            <a:chExt cx="538839" cy="2218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8839" cy="221896"/>
            </a:xfrm>
            <a:custGeom>
              <a:avLst/>
              <a:gdLst/>
              <a:ahLst/>
              <a:cxnLst/>
              <a:rect r="r" b="b" t="t" l="l"/>
              <a:pathLst>
                <a:path h="221896" w="538839">
                  <a:moveTo>
                    <a:pt x="33563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538839" y="221896"/>
                  </a:lnTo>
                  <a:lnTo>
                    <a:pt x="335639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01600" y="-38100"/>
              <a:ext cx="33563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3489611" y="1154886"/>
            <a:ext cx="11308779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SERVICES AND REQUIREMENTS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3481" y="6332495"/>
            <a:ext cx="5612259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ID, Role, Email, Balance.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053584" y="2691547"/>
            <a:ext cx="618083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</a:t>
            </a: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ata Requirements (Entities)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33579" y="6332495"/>
            <a:ext cx="4747022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Start/End times, Fees, Status.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992011" y="6332495"/>
            <a:ext cx="6296653" cy="111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Vehicle Status, Type, Location Coordinates, Capacity Limits.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2015472" y="4218207"/>
            <a:ext cx="2948278" cy="1543050"/>
            <a:chOff x="0" y="0"/>
            <a:chExt cx="776501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76501" cy="406400"/>
            </a:xfrm>
            <a:custGeom>
              <a:avLst/>
              <a:gdLst/>
              <a:ahLst/>
              <a:cxnLst/>
              <a:rect r="r" b="b" t="t" l="l"/>
              <a:pathLst>
                <a:path h="406400" w="776501">
                  <a:moveTo>
                    <a:pt x="44641" y="0"/>
                  </a:moveTo>
                  <a:lnTo>
                    <a:pt x="731861" y="0"/>
                  </a:lnTo>
                  <a:cubicBezTo>
                    <a:pt x="756515" y="0"/>
                    <a:pt x="776501" y="19986"/>
                    <a:pt x="776501" y="44641"/>
                  </a:cubicBezTo>
                  <a:lnTo>
                    <a:pt x="776501" y="361759"/>
                  </a:lnTo>
                  <a:cubicBezTo>
                    <a:pt x="776501" y="386414"/>
                    <a:pt x="756515" y="406400"/>
                    <a:pt x="731861" y="406400"/>
                  </a:cubicBezTo>
                  <a:lnTo>
                    <a:pt x="44641" y="406400"/>
                  </a:lnTo>
                  <a:cubicBezTo>
                    <a:pt x="19986" y="406400"/>
                    <a:pt x="0" y="386414"/>
                    <a:pt x="0" y="361759"/>
                  </a:cubicBezTo>
                  <a:lnTo>
                    <a:pt x="0" y="44641"/>
                  </a:lnTo>
                  <a:cubicBezTo>
                    <a:pt x="0" y="19986"/>
                    <a:pt x="19986" y="0"/>
                    <a:pt x="44641" y="0"/>
                  </a:cubicBezTo>
                  <a:close/>
                </a:path>
              </a:pathLst>
            </a:custGeom>
            <a:solidFill>
              <a:srgbClr val="00306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776501" cy="48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b="true" sz="42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669861" y="4218207"/>
            <a:ext cx="2948278" cy="1648413"/>
            <a:chOff x="0" y="0"/>
            <a:chExt cx="776501" cy="4341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76501" cy="434150"/>
            </a:xfrm>
            <a:custGeom>
              <a:avLst/>
              <a:gdLst/>
              <a:ahLst/>
              <a:cxnLst/>
              <a:rect r="r" b="b" t="t" l="l"/>
              <a:pathLst>
                <a:path h="434150" w="776501">
                  <a:moveTo>
                    <a:pt x="44641" y="0"/>
                  </a:moveTo>
                  <a:lnTo>
                    <a:pt x="731861" y="0"/>
                  </a:lnTo>
                  <a:cubicBezTo>
                    <a:pt x="756515" y="0"/>
                    <a:pt x="776501" y="19986"/>
                    <a:pt x="776501" y="44641"/>
                  </a:cubicBezTo>
                  <a:lnTo>
                    <a:pt x="776501" y="389509"/>
                  </a:lnTo>
                  <a:cubicBezTo>
                    <a:pt x="776501" y="414164"/>
                    <a:pt x="756515" y="434150"/>
                    <a:pt x="731861" y="434150"/>
                  </a:cubicBezTo>
                  <a:lnTo>
                    <a:pt x="44641" y="434150"/>
                  </a:lnTo>
                  <a:cubicBezTo>
                    <a:pt x="19986" y="434150"/>
                    <a:pt x="0" y="414164"/>
                    <a:pt x="0" y="389509"/>
                  </a:cubicBezTo>
                  <a:lnTo>
                    <a:pt x="0" y="44641"/>
                  </a:lnTo>
                  <a:cubicBezTo>
                    <a:pt x="0" y="19986"/>
                    <a:pt x="19986" y="0"/>
                    <a:pt x="44641" y="0"/>
                  </a:cubicBezTo>
                  <a:close/>
                </a:path>
              </a:pathLst>
            </a:custGeom>
            <a:solidFill>
              <a:srgbClr val="00306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776501" cy="510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b="true" sz="42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Vehicles &amp; Stations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432952" y="4218207"/>
            <a:ext cx="2948278" cy="1648413"/>
            <a:chOff x="0" y="0"/>
            <a:chExt cx="776501" cy="4341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76501" cy="434150"/>
            </a:xfrm>
            <a:custGeom>
              <a:avLst/>
              <a:gdLst/>
              <a:ahLst/>
              <a:cxnLst/>
              <a:rect r="r" b="b" t="t" l="l"/>
              <a:pathLst>
                <a:path h="434150" w="776501">
                  <a:moveTo>
                    <a:pt x="44641" y="0"/>
                  </a:moveTo>
                  <a:lnTo>
                    <a:pt x="731861" y="0"/>
                  </a:lnTo>
                  <a:cubicBezTo>
                    <a:pt x="756515" y="0"/>
                    <a:pt x="776501" y="19986"/>
                    <a:pt x="776501" y="44641"/>
                  </a:cubicBezTo>
                  <a:lnTo>
                    <a:pt x="776501" y="389509"/>
                  </a:lnTo>
                  <a:cubicBezTo>
                    <a:pt x="776501" y="414164"/>
                    <a:pt x="756515" y="434150"/>
                    <a:pt x="731861" y="434150"/>
                  </a:cubicBezTo>
                  <a:lnTo>
                    <a:pt x="44641" y="434150"/>
                  </a:lnTo>
                  <a:cubicBezTo>
                    <a:pt x="19986" y="434150"/>
                    <a:pt x="0" y="414164"/>
                    <a:pt x="0" y="389509"/>
                  </a:cubicBezTo>
                  <a:lnTo>
                    <a:pt x="0" y="44641"/>
                  </a:lnTo>
                  <a:cubicBezTo>
                    <a:pt x="0" y="19986"/>
                    <a:pt x="19986" y="0"/>
                    <a:pt x="44641" y="0"/>
                  </a:cubicBezTo>
                  <a:close/>
                </a:path>
              </a:pathLst>
            </a:custGeom>
            <a:solidFill>
              <a:srgbClr val="00306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76200"/>
              <a:ext cx="776501" cy="510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b="true" sz="42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Rental Orders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6538343" y="8477515"/>
            <a:ext cx="412456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dc325107 – Ho Weng Hong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4787204" y="5677616"/>
            <a:ext cx="5660507" cy="610196"/>
            <a:chOff x="0" y="0"/>
            <a:chExt cx="7447174" cy="8027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47174" cy="802796"/>
            </a:xfrm>
            <a:custGeom>
              <a:avLst/>
              <a:gdLst/>
              <a:ahLst/>
              <a:cxnLst/>
              <a:rect r="r" b="b" t="t" l="l"/>
              <a:pathLst>
                <a:path h="802796" w="7447174">
                  <a:moveTo>
                    <a:pt x="7243974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7447174" y="802796"/>
                  </a:lnTo>
                  <a:lnTo>
                    <a:pt x="7243974" y="0"/>
                  </a:lnTo>
                  <a:close/>
                </a:path>
              </a:pathLst>
            </a:custGeom>
            <a:solidFill>
              <a:srgbClr val="1236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7243974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1619913" y="-8432465"/>
            <a:ext cx="16912758" cy="5633984"/>
            <a:chOff x="0" y="0"/>
            <a:chExt cx="2409929" cy="8027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09929" cy="802796"/>
            </a:xfrm>
            <a:custGeom>
              <a:avLst/>
              <a:gdLst/>
              <a:ahLst/>
              <a:cxnLst/>
              <a:rect r="r" b="b" t="t" l="l"/>
              <a:pathLst>
                <a:path h="8027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2409929" y="8027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206729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16807212" y="8290279"/>
            <a:ext cx="6538159" cy="5633984"/>
            <a:chOff x="0" y="0"/>
            <a:chExt cx="931634" cy="8027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1634" cy="802796"/>
            </a:xfrm>
            <a:custGeom>
              <a:avLst/>
              <a:gdLst/>
              <a:ahLst/>
              <a:cxnLst/>
              <a:rect r="r" b="b" t="t" l="l"/>
              <a:pathLst>
                <a:path h="802796" w="931634">
                  <a:moveTo>
                    <a:pt x="728434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931634" y="802796"/>
                  </a:lnTo>
                  <a:lnTo>
                    <a:pt x="728434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728434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767519"/>
            <a:ext cx="3991351" cy="419092"/>
          </a:xfrm>
          <a:custGeom>
            <a:avLst/>
            <a:gdLst/>
            <a:ahLst/>
            <a:cxnLst/>
            <a:rect r="r" b="b" t="t" l="l"/>
            <a:pathLst>
              <a:path h="419092" w="3991351">
                <a:moveTo>
                  <a:pt x="0" y="0"/>
                </a:moveTo>
                <a:lnTo>
                  <a:pt x="3991351" y="0"/>
                </a:lnTo>
                <a:lnTo>
                  <a:pt x="3991351" y="419092"/>
                </a:lnTo>
                <a:lnTo>
                  <a:pt x="0" y="41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0" y="9258300"/>
            <a:ext cx="11195301" cy="1455389"/>
          </a:xfrm>
          <a:custGeom>
            <a:avLst/>
            <a:gdLst/>
            <a:ahLst/>
            <a:cxnLst/>
            <a:rect r="r" b="b" t="t" l="l"/>
            <a:pathLst>
              <a:path h="1455389" w="11195301">
                <a:moveTo>
                  <a:pt x="11195301" y="0"/>
                </a:moveTo>
                <a:lnTo>
                  <a:pt x="0" y="0"/>
                </a:lnTo>
                <a:lnTo>
                  <a:pt x="0" y="1455389"/>
                </a:lnTo>
                <a:lnTo>
                  <a:pt x="11195301" y="1455389"/>
                </a:lnTo>
                <a:lnTo>
                  <a:pt x="1119530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61709" y="0"/>
            <a:ext cx="8455749" cy="2568434"/>
          </a:xfrm>
          <a:custGeom>
            <a:avLst/>
            <a:gdLst/>
            <a:ahLst/>
            <a:cxnLst/>
            <a:rect r="r" b="b" t="t" l="l"/>
            <a:pathLst>
              <a:path h="2568434" w="8455749">
                <a:moveTo>
                  <a:pt x="0" y="0"/>
                </a:moveTo>
                <a:lnTo>
                  <a:pt x="8455749" y="0"/>
                </a:lnTo>
                <a:lnTo>
                  <a:pt x="8455749" y="2568434"/>
                </a:lnTo>
                <a:lnTo>
                  <a:pt x="0" y="2568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643421" y="2568434"/>
            <a:ext cx="7492325" cy="3558854"/>
          </a:xfrm>
          <a:custGeom>
            <a:avLst/>
            <a:gdLst/>
            <a:ahLst/>
            <a:cxnLst/>
            <a:rect r="r" b="b" t="t" l="l"/>
            <a:pathLst>
              <a:path h="3558854" w="7492325">
                <a:moveTo>
                  <a:pt x="0" y="0"/>
                </a:moveTo>
                <a:lnTo>
                  <a:pt x="7492325" y="0"/>
                </a:lnTo>
                <a:lnTo>
                  <a:pt x="7492325" y="3558854"/>
                </a:lnTo>
                <a:lnTo>
                  <a:pt x="0" y="35588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454381" y="6659438"/>
            <a:ext cx="6163077" cy="3173985"/>
          </a:xfrm>
          <a:custGeom>
            <a:avLst/>
            <a:gdLst/>
            <a:ahLst/>
            <a:cxnLst/>
            <a:rect r="r" b="b" t="t" l="l"/>
            <a:pathLst>
              <a:path h="3173985" w="6163077">
                <a:moveTo>
                  <a:pt x="0" y="0"/>
                </a:moveTo>
                <a:lnTo>
                  <a:pt x="6163077" y="0"/>
                </a:lnTo>
                <a:lnTo>
                  <a:pt x="6163077" y="3173985"/>
                </a:lnTo>
                <a:lnTo>
                  <a:pt x="0" y="31739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2064395"/>
            <a:ext cx="9365817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CORE SERVICES (USER)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3490" y="3066736"/>
            <a:ext cx="10139416" cy="517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Account authentication via Google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Profile management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Vehicle search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Click "Rent" on the rental website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Wallet top-up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Interactive campus map integrating Leaflet and OpenStreetMap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38343" y="8477515"/>
            <a:ext cx="412456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dc325107 – Ho Weng Hong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35518"/>
            <a:ext cx="10854715" cy="7548225"/>
            <a:chOff x="0" y="0"/>
            <a:chExt cx="2858855" cy="1988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8855" cy="1988010"/>
            </a:xfrm>
            <a:custGeom>
              <a:avLst/>
              <a:gdLst/>
              <a:ahLst/>
              <a:cxnLst/>
              <a:rect r="r" b="b" t="t" l="l"/>
              <a:pathLst>
                <a:path h="1988010" w="2858855">
                  <a:moveTo>
                    <a:pt x="0" y="0"/>
                  </a:moveTo>
                  <a:lnTo>
                    <a:pt x="2858855" y="0"/>
                  </a:lnTo>
                  <a:lnTo>
                    <a:pt x="2858855" y="1988010"/>
                  </a:lnTo>
                  <a:lnTo>
                    <a:pt x="0" y="1988010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58855" cy="2026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5777068" y="-9197016"/>
            <a:ext cx="16912758" cy="5633984"/>
            <a:chOff x="0" y="0"/>
            <a:chExt cx="2409929" cy="8027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09929" cy="802796"/>
            </a:xfrm>
            <a:custGeom>
              <a:avLst/>
              <a:gdLst/>
              <a:ahLst/>
              <a:cxnLst/>
              <a:rect r="r" b="b" t="t" l="l"/>
              <a:pathLst>
                <a:path h="8027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2409929" y="8027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206729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9701565" y="-1257455"/>
            <a:ext cx="3429780" cy="1142530"/>
            <a:chOff x="0" y="0"/>
            <a:chExt cx="2409929" cy="8027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9929" cy="802796"/>
            </a:xfrm>
            <a:custGeom>
              <a:avLst/>
              <a:gdLst/>
              <a:ahLst/>
              <a:cxnLst/>
              <a:rect r="r" b="b" t="t" l="l"/>
              <a:pathLst>
                <a:path h="8027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2409929" y="8027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2206729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14550655" y="3480538"/>
            <a:ext cx="7056969" cy="1142530"/>
            <a:chOff x="0" y="0"/>
            <a:chExt cx="4958567" cy="8027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58567" cy="802796"/>
            </a:xfrm>
            <a:custGeom>
              <a:avLst/>
              <a:gdLst/>
              <a:ahLst/>
              <a:cxnLst/>
              <a:rect r="r" b="b" t="t" l="l"/>
              <a:pathLst>
                <a:path h="802796" w="4958567">
                  <a:moveTo>
                    <a:pt x="4755367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4958567" y="802796"/>
                  </a:lnTo>
                  <a:lnTo>
                    <a:pt x="4755367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4755367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400000">
            <a:off x="15479569" y="9903486"/>
            <a:ext cx="5199141" cy="1142530"/>
            <a:chOff x="0" y="0"/>
            <a:chExt cx="3653167" cy="8027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3167" cy="802796"/>
            </a:xfrm>
            <a:custGeom>
              <a:avLst/>
              <a:gdLst/>
              <a:ahLst/>
              <a:cxnLst/>
              <a:rect r="r" b="b" t="t" l="l"/>
              <a:pathLst>
                <a:path h="802796" w="3653167">
                  <a:moveTo>
                    <a:pt x="3449967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3653167" y="802796"/>
                  </a:lnTo>
                  <a:lnTo>
                    <a:pt x="3449967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3449967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60383" y="797408"/>
            <a:ext cx="3991351" cy="419092"/>
          </a:xfrm>
          <a:custGeom>
            <a:avLst/>
            <a:gdLst/>
            <a:ahLst/>
            <a:cxnLst/>
            <a:rect r="r" b="b" t="t" l="l"/>
            <a:pathLst>
              <a:path h="419092" w="3991351">
                <a:moveTo>
                  <a:pt x="0" y="0"/>
                </a:moveTo>
                <a:lnTo>
                  <a:pt x="3991351" y="0"/>
                </a:lnTo>
                <a:lnTo>
                  <a:pt x="3991351" y="419092"/>
                </a:lnTo>
                <a:lnTo>
                  <a:pt x="0" y="41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80469" y="151280"/>
            <a:ext cx="7905956" cy="4051803"/>
          </a:xfrm>
          <a:custGeom>
            <a:avLst/>
            <a:gdLst/>
            <a:ahLst/>
            <a:cxnLst/>
            <a:rect r="r" b="b" t="t" l="l"/>
            <a:pathLst>
              <a:path h="4051803" w="7905956">
                <a:moveTo>
                  <a:pt x="0" y="0"/>
                </a:moveTo>
                <a:lnTo>
                  <a:pt x="7905956" y="0"/>
                </a:lnTo>
                <a:lnTo>
                  <a:pt x="7905956" y="4051803"/>
                </a:lnTo>
                <a:lnTo>
                  <a:pt x="0" y="4051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643832" y="4962978"/>
            <a:ext cx="10263960" cy="5234619"/>
          </a:xfrm>
          <a:custGeom>
            <a:avLst/>
            <a:gdLst/>
            <a:ahLst/>
            <a:cxnLst/>
            <a:rect r="r" b="b" t="t" l="l"/>
            <a:pathLst>
              <a:path h="5234619" w="10263960">
                <a:moveTo>
                  <a:pt x="0" y="0"/>
                </a:moveTo>
                <a:lnTo>
                  <a:pt x="10263960" y="0"/>
                </a:lnTo>
                <a:lnTo>
                  <a:pt x="10263960" y="5234619"/>
                </a:lnTo>
                <a:lnTo>
                  <a:pt x="0" y="52346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60383" y="2411762"/>
            <a:ext cx="9134784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CORE SERVICE</a:t>
            </a:r>
            <a:r>
              <a:rPr lang="en-US" sz="6399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 (Admin)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9839" y="4117358"/>
            <a:ext cx="10139416" cy="295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Inventory management (add/retire vehicles)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Station capacity control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Manual order adjustments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Forum moderation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20201" y="8403085"/>
            <a:ext cx="412456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dc325107 – Ho Weng Hong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1787" y="7336756"/>
            <a:ext cx="3410223" cy="1301787"/>
            <a:chOff x="0" y="0"/>
            <a:chExt cx="4546964" cy="173571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24292"/>
              <a:ext cx="1445891" cy="1652195"/>
              <a:chOff x="0" y="0"/>
              <a:chExt cx="285608" cy="32636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85608" cy="326360"/>
              </a:xfrm>
              <a:custGeom>
                <a:avLst/>
                <a:gdLst/>
                <a:ahLst/>
                <a:cxnLst/>
                <a:rect r="r" b="b" t="t" l="l"/>
                <a:pathLst>
                  <a:path h="326360" w="285608">
                    <a:moveTo>
                      <a:pt x="128506" y="0"/>
                    </a:moveTo>
                    <a:lnTo>
                      <a:pt x="157102" y="0"/>
                    </a:lnTo>
                    <a:cubicBezTo>
                      <a:pt x="228074" y="0"/>
                      <a:pt x="285608" y="57534"/>
                      <a:pt x="285608" y="128506"/>
                    </a:cubicBezTo>
                    <a:lnTo>
                      <a:pt x="285608" y="197853"/>
                    </a:lnTo>
                    <a:cubicBezTo>
                      <a:pt x="285608" y="231935"/>
                      <a:pt x="272069" y="264621"/>
                      <a:pt x="247969" y="288721"/>
                    </a:cubicBezTo>
                    <a:cubicBezTo>
                      <a:pt x="223870" y="312821"/>
                      <a:pt x="191184" y="326360"/>
                      <a:pt x="157102" y="326360"/>
                    </a:cubicBezTo>
                    <a:lnTo>
                      <a:pt x="128506" y="326360"/>
                    </a:lnTo>
                    <a:cubicBezTo>
                      <a:pt x="57534" y="326360"/>
                      <a:pt x="0" y="268825"/>
                      <a:pt x="0" y="197853"/>
                    </a:cubicBezTo>
                    <a:lnTo>
                      <a:pt x="0" y="128506"/>
                    </a:lnTo>
                    <a:cubicBezTo>
                      <a:pt x="0" y="94424"/>
                      <a:pt x="13539" y="61738"/>
                      <a:pt x="37639" y="37639"/>
                    </a:cubicBezTo>
                    <a:cubicBezTo>
                      <a:pt x="61738" y="13539"/>
                      <a:pt x="94424" y="0"/>
                      <a:pt x="12850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71BF">
                      <a:alpha val="100000"/>
                    </a:srgbClr>
                  </a:gs>
                  <a:gs pos="100000">
                    <a:srgbClr val="003060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57150"/>
                <a:ext cx="285608" cy="3835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500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315652" y="0"/>
              <a:ext cx="813238" cy="1735716"/>
            </a:xfrm>
            <a:custGeom>
              <a:avLst/>
              <a:gdLst/>
              <a:ahLst/>
              <a:cxnLst/>
              <a:rect r="r" b="b" t="t" l="l"/>
              <a:pathLst>
                <a:path h="1735716" w="813238">
                  <a:moveTo>
                    <a:pt x="0" y="0"/>
                  </a:moveTo>
                  <a:lnTo>
                    <a:pt x="813238" y="0"/>
                  </a:lnTo>
                  <a:lnTo>
                    <a:pt x="813238" y="1735716"/>
                  </a:lnTo>
                  <a:lnTo>
                    <a:pt x="0" y="1735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409679" y="656739"/>
              <a:ext cx="3137285" cy="5786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04"/>
                </a:lnSpc>
              </a:pPr>
              <a:r>
                <a:rPr lang="en-US" b="true" sz="3200">
                  <a:solidFill>
                    <a:srgbClr val="00306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PHASE 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61787" y="5707085"/>
            <a:ext cx="3460169" cy="1239146"/>
            <a:chOff x="0" y="0"/>
            <a:chExt cx="4613558" cy="165219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445891" cy="1652195"/>
              <a:chOff x="0" y="0"/>
              <a:chExt cx="285608" cy="32636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85608" cy="326360"/>
              </a:xfrm>
              <a:custGeom>
                <a:avLst/>
                <a:gdLst/>
                <a:ahLst/>
                <a:cxnLst/>
                <a:rect r="r" b="b" t="t" l="l"/>
                <a:pathLst>
                  <a:path h="326360" w="285608">
                    <a:moveTo>
                      <a:pt x="128506" y="0"/>
                    </a:moveTo>
                    <a:lnTo>
                      <a:pt x="157102" y="0"/>
                    </a:lnTo>
                    <a:cubicBezTo>
                      <a:pt x="228074" y="0"/>
                      <a:pt x="285608" y="57534"/>
                      <a:pt x="285608" y="128506"/>
                    </a:cubicBezTo>
                    <a:lnTo>
                      <a:pt x="285608" y="197853"/>
                    </a:lnTo>
                    <a:cubicBezTo>
                      <a:pt x="285608" y="231935"/>
                      <a:pt x="272069" y="264621"/>
                      <a:pt x="247969" y="288721"/>
                    </a:cubicBezTo>
                    <a:cubicBezTo>
                      <a:pt x="223870" y="312821"/>
                      <a:pt x="191184" y="326360"/>
                      <a:pt x="157102" y="326360"/>
                    </a:cubicBezTo>
                    <a:lnTo>
                      <a:pt x="128506" y="326360"/>
                    </a:lnTo>
                    <a:cubicBezTo>
                      <a:pt x="57534" y="326360"/>
                      <a:pt x="0" y="268825"/>
                      <a:pt x="0" y="197853"/>
                    </a:cubicBezTo>
                    <a:lnTo>
                      <a:pt x="0" y="128506"/>
                    </a:lnTo>
                    <a:cubicBezTo>
                      <a:pt x="0" y="94424"/>
                      <a:pt x="13539" y="61738"/>
                      <a:pt x="37639" y="37639"/>
                    </a:cubicBezTo>
                    <a:cubicBezTo>
                      <a:pt x="61738" y="13539"/>
                      <a:pt x="94424" y="0"/>
                      <a:pt x="12850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71BF">
                      <a:alpha val="100000"/>
                    </a:srgbClr>
                  </a:gs>
                  <a:gs pos="100000">
                    <a:srgbClr val="003060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285608" cy="3835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500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12193" y="415407"/>
              <a:ext cx="1425033" cy="887626"/>
            </a:xfrm>
            <a:custGeom>
              <a:avLst/>
              <a:gdLst/>
              <a:ahLst/>
              <a:cxnLst/>
              <a:rect r="r" b="b" t="t" l="l"/>
              <a:pathLst>
                <a:path h="887626" w="1425033">
                  <a:moveTo>
                    <a:pt x="0" y="0"/>
                  </a:moveTo>
                  <a:lnTo>
                    <a:pt x="1425033" y="0"/>
                  </a:lnTo>
                  <a:lnTo>
                    <a:pt x="1425033" y="887627"/>
                  </a:lnTo>
                  <a:lnTo>
                    <a:pt x="0" y="887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476273" y="570108"/>
              <a:ext cx="3137285" cy="5786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04"/>
                </a:lnSpc>
              </a:pPr>
              <a:r>
                <a:rPr lang="en-US" b="true" sz="3200">
                  <a:solidFill>
                    <a:srgbClr val="00306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PHASE 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787" y="4065725"/>
            <a:ext cx="3437382" cy="1239146"/>
            <a:chOff x="0" y="0"/>
            <a:chExt cx="4583176" cy="165219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445891" cy="1652195"/>
              <a:chOff x="0" y="0"/>
              <a:chExt cx="285608" cy="32636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85608" cy="326360"/>
              </a:xfrm>
              <a:custGeom>
                <a:avLst/>
                <a:gdLst/>
                <a:ahLst/>
                <a:cxnLst/>
                <a:rect r="r" b="b" t="t" l="l"/>
                <a:pathLst>
                  <a:path h="326360" w="285608">
                    <a:moveTo>
                      <a:pt x="128506" y="0"/>
                    </a:moveTo>
                    <a:lnTo>
                      <a:pt x="157102" y="0"/>
                    </a:lnTo>
                    <a:cubicBezTo>
                      <a:pt x="228074" y="0"/>
                      <a:pt x="285608" y="57534"/>
                      <a:pt x="285608" y="128506"/>
                    </a:cubicBezTo>
                    <a:lnTo>
                      <a:pt x="285608" y="197853"/>
                    </a:lnTo>
                    <a:cubicBezTo>
                      <a:pt x="285608" y="231935"/>
                      <a:pt x="272069" y="264621"/>
                      <a:pt x="247969" y="288721"/>
                    </a:cubicBezTo>
                    <a:cubicBezTo>
                      <a:pt x="223870" y="312821"/>
                      <a:pt x="191184" y="326360"/>
                      <a:pt x="157102" y="326360"/>
                    </a:cubicBezTo>
                    <a:lnTo>
                      <a:pt x="128506" y="326360"/>
                    </a:lnTo>
                    <a:cubicBezTo>
                      <a:pt x="57534" y="326360"/>
                      <a:pt x="0" y="268825"/>
                      <a:pt x="0" y="197853"/>
                    </a:cubicBezTo>
                    <a:lnTo>
                      <a:pt x="0" y="128506"/>
                    </a:lnTo>
                    <a:cubicBezTo>
                      <a:pt x="0" y="94424"/>
                      <a:pt x="13539" y="61738"/>
                      <a:pt x="37639" y="37639"/>
                    </a:cubicBezTo>
                    <a:cubicBezTo>
                      <a:pt x="61738" y="13539"/>
                      <a:pt x="94424" y="0"/>
                      <a:pt x="12850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71BF">
                      <a:alpha val="100000"/>
                    </a:srgbClr>
                  </a:gs>
                  <a:gs pos="100000">
                    <a:srgbClr val="003060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285608" cy="3835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50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191127" y="388566"/>
              <a:ext cx="1071502" cy="895632"/>
            </a:xfrm>
            <a:custGeom>
              <a:avLst/>
              <a:gdLst/>
              <a:ahLst/>
              <a:cxnLst/>
              <a:rect r="r" b="b" t="t" l="l"/>
              <a:pathLst>
                <a:path h="895632" w="1071502">
                  <a:moveTo>
                    <a:pt x="0" y="0"/>
                  </a:moveTo>
                  <a:lnTo>
                    <a:pt x="1071502" y="0"/>
                  </a:lnTo>
                  <a:lnTo>
                    <a:pt x="1071502" y="895632"/>
                  </a:lnTo>
                  <a:lnTo>
                    <a:pt x="0" y="895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445891" y="570108"/>
              <a:ext cx="3137285" cy="5786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04"/>
                </a:lnSpc>
              </a:pPr>
              <a:r>
                <a:rPr lang="en-US" b="true" sz="3200">
                  <a:solidFill>
                    <a:srgbClr val="00306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PHASE 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61787" y="2421592"/>
            <a:ext cx="3460169" cy="1239795"/>
            <a:chOff x="0" y="0"/>
            <a:chExt cx="4613558" cy="165306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445891" cy="1652195"/>
              <a:chOff x="0" y="0"/>
              <a:chExt cx="285608" cy="32636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85608" cy="326360"/>
              </a:xfrm>
              <a:custGeom>
                <a:avLst/>
                <a:gdLst/>
                <a:ahLst/>
                <a:cxnLst/>
                <a:rect r="r" b="b" t="t" l="l"/>
                <a:pathLst>
                  <a:path h="326360" w="285608">
                    <a:moveTo>
                      <a:pt x="128506" y="0"/>
                    </a:moveTo>
                    <a:lnTo>
                      <a:pt x="157102" y="0"/>
                    </a:lnTo>
                    <a:cubicBezTo>
                      <a:pt x="228074" y="0"/>
                      <a:pt x="285608" y="57534"/>
                      <a:pt x="285608" y="128506"/>
                    </a:cubicBezTo>
                    <a:lnTo>
                      <a:pt x="285608" y="197853"/>
                    </a:lnTo>
                    <a:cubicBezTo>
                      <a:pt x="285608" y="231935"/>
                      <a:pt x="272069" y="264621"/>
                      <a:pt x="247969" y="288721"/>
                    </a:cubicBezTo>
                    <a:cubicBezTo>
                      <a:pt x="223870" y="312821"/>
                      <a:pt x="191184" y="326360"/>
                      <a:pt x="157102" y="326360"/>
                    </a:cubicBezTo>
                    <a:lnTo>
                      <a:pt x="128506" y="326360"/>
                    </a:lnTo>
                    <a:cubicBezTo>
                      <a:pt x="57534" y="326360"/>
                      <a:pt x="0" y="268825"/>
                      <a:pt x="0" y="197853"/>
                    </a:cubicBezTo>
                    <a:lnTo>
                      <a:pt x="0" y="128506"/>
                    </a:lnTo>
                    <a:cubicBezTo>
                      <a:pt x="0" y="94424"/>
                      <a:pt x="13539" y="61738"/>
                      <a:pt x="37639" y="37639"/>
                    </a:cubicBezTo>
                    <a:cubicBezTo>
                      <a:pt x="61738" y="13539"/>
                      <a:pt x="94424" y="0"/>
                      <a:pt x="12850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671BF">
                      <a:alpha val="100000"/>
                    </a:srgbClr>
                  </a:gs>
                  <a:gs pos="100000">
                    <a:srgbClr val="003060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57150"/>
                <a:ext cx="285608" cy="3835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500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74766" y="246720"/>
              <a:ext cx="1401507" cy="1406340"/>
            </a:xfrm>
            <a:custGeom>
              <a:avLst/>
              <a:gdLst/>
              <a:ahLst/>
              <a:cxnLst/>
              <a:rect r="r" b="b" t="t" l="l"/>
              <a:pathLst>
                <a:path h="1406340" w="1401507">
                  <a:moveTo>
                    <a:pt x="0" y="0"/>
                  </a:moveTo>
                  <a:lnTo>
                    <a:pt x="1401507" y="0"/>
                  </a:lnTo>
                  <a:lnTo>
                    <a:pt x="1401507" y="1406340"/>
                  </a:lnTo>
                  <a:lnTo>
                    <a:pt x="0" y="1406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1476273" y="570108"/>
              <a:ext cx="3137285" cy="5786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04"/>
                </a:lnSpc>
              </a:pPr>
              <a:r>
                <a:rPr lang="en-US" b="true" sz="3200">
                  <a:solidFill>
                    <a:srgbClr val="00306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PHASE 1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-2399828" y="9096375"/>
            <a:ext cx="14038876" cy="3707664"/>
            <a:chOff x="0" y="0"/>
            <a:chExt cx="840196" cy="2218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40196" cy="221896"/>
            </a:xfrm>
            <a:custGeom>
              <a:avLst/>
              <a:gdLst/>
              <a:ahLst/>
              <a:cxnLst/>
              <a:rect r="r" b="b" t="t" l="l"/>
              <a:pathLst>
                <a:path h="221896" w="840196">
                  <a:moveTo>
                    <a:pt x="636996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840196" y="221896"/>
                  </a:lnTo>
                  <a:lnTo>
                    <a:pt x="636996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01600" y="-38100"/>
              <a:ext cx="636996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-950968" y="9712581"/>
            <a:ext cx="3959336" cy="1630467"/>
            <a:chOff x="0" y="0"/>
            <a:chExt cx="538839" cy="2218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8839" cy="221896"/>
            </a:xfrm>
            <a:custGeom>
              <a:avLst/>
              <a:gdLst/>
              <a:ahLst/>
              <a:cxnLst/>
              <a:rect r="r" b="b" t="t" l="l"/>
              <a:pathLst>
                <a:path h="221896" w="538839">
                  <a:moveTo>
                    <a:pt x="33563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538839" y="221896"/>
                  </a:lnTo>
                  <a:lnTo>
                    <a:pt x="335639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01600" y="-38100"/>
              <a:ext cx="33563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532295" y="9864981"/>
            <a:ext cx="11424871" cy="769470"/>
            <a:chOff x="0" y="0"/>
            <a:chExt cx="3294642" cy="2218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94642" cy="221896"/>
            </a:xfrm>
            <a:custGeom>
              <a:avLst/>
              <a:gdLst/>
              <a:ahLst/>
              <a:cxnLst/>
              <a:rect r="r" b="b" t="t" l="l"/>
              <a:pathLst>
                <a:path h="221896" w="3294642">
                  <a:moveTo>
                    <a:pt x="3091442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3294642" y="221896"/>
                  </a:lnTo>
                  <a:lnTo>
                    <a:pt x="3091442" y="0"/>
                  </a:lnTo>
                  <a:close/>
                </a:path>
              </a:pathLst>
            </a:custGeom>
            <a:solidFill>
              <a:srgbClr val="123664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01600" y="-38100"/>
              <a:ext cx="3091442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-2247428" y="9248775"/>
            <a:ext cx="14038876" cy="3707664"/>
            <a:chOff x="0" y="0"/>
            <a:chExt cx="840196" cy="2218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40196" cy="221896"/>
            </a:xfrm>
            <a:custGeom>
              <a:avLst/>
              <a:gdLst/>
              <a:ahLst/>
              <a:cxnLst/>
              <a:rect r="r" b="b" t="t" l="l"/>
              <a:pathLst>
                <a:path h="221896" w="840196">
                  <a:moveTo>
                    <a:pt x="636996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840196" y="221896"/>
                  </a:lnTo>
                  <a:lnTo>
                    <a:pt x="636996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01600" y="-38100"/>
              <a:ext cx="636996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-798568" y="9864981"/>
            <a:ext cx="3959336" cy="1630467"/>
            <a:chOff x="0" y="0"/>
            <a:chExt cx="538839" cy="22189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8839" cy="221896"/>
            </a:xfrm>
            <a:custGeom>
              <a:avLst/>
              <a:gdLst/>
              <a:ahLst/>
              <a:cxnLst/>
              <a:rect r="r" b="b" t="t" l="l"/>
              <a:pathLst>
                <a:path h="221896" w="538839">
                  <a:moveTo>
                    <a:pt x="33563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538839" y="221896"/>
                  </a:lnTo>
                  <a:lnTo>
                    <a:pt x="335639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01600" y="-38100"/>
              <a:ext cx="33563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361787" y="818597"/>
            <a:ext cx="6969838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679"/>
              </a:lnSpc>
              <a:spcBef>
                <a:spcPct val="0"/>
              </a:spcBef>
            </a:pPr>
            <a:r>
              <a:rPr lang="en-US" b="true" sz="6399" strike="noStrike" u="non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</a:t>
            </a:r>
            <a:r>
              <a:rPr lang="en-US" b="true" sz="6399" strike="noStrike" u="non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ROJECT T</a:t>
            </a:r>
            <a:r>
              <a:rPr lang="en-US" b="true" sz="6399" strike="noStrike" u="non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</a:t>
            </a:r>
            <a:r>
              <a:rPr lang="en-US" b="true" sz="6399" strike="noStrike" u="non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SKS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-950968" y="-809662"/>
            <a:ext cx="11071709" cy="1467597"/>
            <a:chOff x="0" y="0"/>
            <a:chExt cx="14762279" cy="195679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284151"/>
              <a:ext cx="12866499" cy="1672645"/>
            </a:xfrm>
            <a:custGeom>
              <a:avLst/>
              <a:gdLst/>
              <a:ahLst/>
              <a:cxnLst/>
              <a:rect r="r" b="b" t="t" l="l"/>
              <a:pathLst>
                <a:path h="1672645" w="12866499">
                  <a:moveTo>
                    <a:pt x="0" y="0"/>
                  </a:moveTo>
                  <a:lnTo>
                    <a:pt x="12866499" y="0"/>
                  </a:lnTo>
                  <a:lnTo>
                    <a:pt x="12866499" y="1672644"/>
                  </a:lnTo>
                  <a:lnTo>
                    <a:pt x="0" y="16726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5" id="45"/>
            <p:cNvGrpSpPr/>
            <p:nvPr/>
          </p:nvGrpSpPr>
          <p:grpSpPr>
            <a:xfrm rot="0">
              <a:off x="10549692" y="0"/>
              <a:ext cx="3981303" cy="1123346"/>
              <a:chOff x="0" y="0"/>
              <a:chExt cx="786430" cy="221896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786430" cy="221896"/>
              </a:xfrm>
              <a:custGeom>
                <a:avLst/>
                <a:gdLst/>
                <a:ahLst/>
                <a:cxnLst/>
                <a:rect r="r" b="b" t="t" l="l"/>
                <a:pathLst>
                  <a:path h="221896" w="786430">
                    <a:moveTo>
                      <a:pt x="583230" y="0"/>
                    </a:moveTo>
                    <a:lnTo>
                      <a:pt x="0" y="0"/>
                    </a:lnTo>
                    <a:lnTo>
                      <a:pt x="203200" y="221896"/>
                    </a:lnTo>
                    <a:lnTo>
                      <a:pt x="786430" y="221896"/>
                    </a:lnTo>
                    <a:lnTo>
                      <a:pt x="583230" y="0"/>
                    </a:lnTo>
                    <a:close/>
                  </a:path>
                </a:pathLst>
              </a:custGeom>
              <a:solidFill>
                <a:srgbClr val="3671BF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01600" y="-38100"/>
                <a:ext cx="583230" cy="2599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10970719" y="1120473"/>
              <a:ext cx="3791560" cy="800113"/>
              <a:chOff x="0" y="0"/>
              <a:chExt cx="1261615" cy="266232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261615" cy="266232"/>
              </a:xfrm>
              <a:custGeom>
                <a:avLst/>
                <a:gdLst/>
                <a:ahLst/>
                <a:cxnLst/>
                <a:rect r="r" b="b" t="t" l="l"/>
                <a:pathLst>
                  <a:path h="266232" w="1261615">
                    <a:moveTo>
                      <a:pt x="1058415" y="0"/>
                    </a:moveTo>
                    <a:lnTo>
                      <a:pt x="0" y="0"/>
                    </a:lnTo>
                    <a:lnTo>
                      <a:pt x="203200" y="266232"/>
                    </a:lnTo>
                    <a:lnTo>
                      <a:pt x="1261615" y="266232"/>
                    </a:lnTo>
                    <a:lnTo>
                      <a:pt x="1058415" y="0"/>
                    </a:lnTo>
                    <a:close/>
                  </a:path>
                </a:pathLst>
              </a:custGeom>
              <a:solidFill>
                <a:srgbClr val="12366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1058415" cy="3043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51" id="51"/>
          <p:cNvSpPr txBox="true"/>
          <p:nvPr/>
        </p:nvSpPr>
        <p:spPr>
          <a:xfrm rot="0">
            <a:off x="4772010" y="2380320"/>
            <a:ext cx="13176197" cy="128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  <a:spcBef>
                <a:spcPct val="0"/>
              </a:spcBef>
            </a:pP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Project Planning and UI/UX Design, including finalizing the proposal and visual layouts.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761869" y="4057990"/>
            <a:ext cx="13466044" cy="128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  <a:spcBef>
                <a:spcPct val="0"/>
              </a:spcBef>
            </a:pPr>
            <a:r>
              <a:rPr lang="en-US" sz="37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-End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Deve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opme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t, tra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slat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ing design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in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HTML/CSS/JS a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il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ing 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cor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 r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ent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 i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nterf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ce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workf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772010" y="5735660"/>
            <a:ext cx="13586218" cy="128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  <a:spcBef>
                <a:spcPct val="0"/>
              </a:spcBef>
            </a:pPr>
            <a:r>
              <a:rPr lang="en-US" sz="37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Back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-End Int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eg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ration, configuring 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XA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PP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My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QL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writing PHP scr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ipts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for authent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ic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ation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ee c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alc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ulation,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r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ea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l-time status updates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772010" y="7711292"/>
            <a:ext cx="8784803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  <a:spcBef>
                <a:spcPct val="0"/>
              </a:spcBef>
            </a:pPr>
            <a:r>
              <a:rPr lang="en-US" sz="37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Testing and Dep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oyment 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</a:t>
            </a:r>
            <a:r>
              <a:rPr lang="en-US" sz="37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ia InfinityFree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713901" y="8477515"/>
            <a:ext cx="377344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dc325182 – Che Chi Hin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32331" y="1830818"/>
            <a:ext cx="4823338" cy="6790555"/>
            <a:chOff x="0" y="0"/>
            <a:chExt cx="6431117" cy="905407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2132928"/>
              <a:ext cx="6431117" cy="6921145"/>
              <a:chOff x="0" y="0"/>
              <a:chExt cx="1270344" cy="13671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270344" cy="1367140"/>
              </a:xfrm>
              <a:custGeom>
                <a:avLst/>
                <a:gdLst/>
                <a:ahLst/>
                <a:cxnLst/>
                <a:rect r="r" b="b" t="t" l="l"/>
                <a:pathLst>
                  <a:path h="1367140" w="1270344">
                    <a:moveTo>
                      <a:pt x="0" y="0"/>
                    </a:moveTo>
                    <a:lnTo>
                      <a:pt x="1270344" y="0"/>
                    </a:lnTo>
                    <a:lnTo>
                      <a:pt x="1270344" y="1367140"/>
                    </a:lnTo>
                    <a:lnTo>
                      <a:pt x="0" y="1367140"/>
                    </a:ln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270344" cy="14052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6431117" cy="1696714"/>
              <a:chOff x="0" y="0"/>
              <a:chExt cx="1270344" cy="33515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270344" cy="335153"/>
              </a:xfrm>
              <a:custGeom>
                <a:avLst/>
                <a:gdLst/>
                <a:ahLst/>
                <a:cxnLst/>
                <a:rect r="r" b="b" t="t" l="l"/>
                <a:pathLst>
                  <a:path h="335153" w="1270344">
                    <a:moveTo>
                      <a:pt x="0" y="0"/>
                    </a:moveTo>
                    <a:lnTo>
                      <a:pt x="1270344" y="0"/>
                    </a:lnTo>
                    <a:lnTo>
                      <a:pt x="1270344" y="335153"/>
                    </a:lnTo>
                    <a:lnTo>
                      <a:pt x="0" y="335153"/>
                    </a:lnTo>
                    <a:close/>
                  </a:path>
                </a:pathLst>
              </a:custGeom>
              <a:solidFill>
                <a:srgbClr val="27538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270344" cy="3732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930322" y="48257"/>
              <a:ext cx="4570473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EDEDED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CAPACITY CONSTRAINTS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3482942" y="9258300"/>
            <a:ext cx="14038876" cy="3707664"/>
            <a:chOff x="0" y="0"/>
            <a:chExt cx="840196" cy="2218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0196" cy="221896"/>
            </a:xfrm>
            <a:custGeom>
              <a:avLst/>
              <a:gdLst/>
              <a:ahLst/>
              <a:cxnLst/>
              <a:rect r="r" b="b" t="t" l="l"/>
              <a:pathLst>
                <a:path h="221896" w="840196">
                  <a:moveTo>
                    <a:pt x="636996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840196" y="221896"/>
                  </a:lnTo>
                  <a:lnTo>
                    <a:pt x="636996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636996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54834" y="9768001"/>
            <a:ext cx="3959336" cy="1630467"/>
            <a:chOff x="0" y="0"/>
            <a:chExt cx="538839" cy="2218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8839" cy="221896"/>
            </a:xfrm>
            <a:custGeom>
              <a:avLst/>
              <a:gdLst/>
              <a:ahLst/>
              <a:cxnLst/>
              <a:rect r="r" b="b" t="t" l="l"/>
              <a:pathLst>
                <a:path h="221896" w="538839">
                  <a:moveTo>
                    <a:pt x="33563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538839" y="221896"/>
                  </a:lnTo>
                  <a:lnTo>
                    <a:pt x="335639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38100"/>
              <a:ext cx="33563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true" flipV="false" rot="0">
            <a:off x="8638126" y="-60593"/>
            <a:ext cx="9649874" cy="1254484"/>
          </a:xfrm>
          <a:custGeom>
            <a:avLst/>
            <a:gdLst/>
            <a:ahLst/>
            <a:cxnLst/>
            <a:rect r="r" b="b" t="t" l="l"/>
            <a:pathLst>
              <a:path h="1254484" w="9649874">
                <a:moveTo>
                  <a:pt x="9649874" y="0"/>
                </a:moveTo>
                <a:lnTo>
                  <a:pt x="0" y="0"/>
                </a:lnTo>
                <a:lnTo>
                  <a:pt x="0" y="1254484"/>
                </a:lnTo>
                <a:lnTo>
                  <a:pt x="9649874" y="1254484"/>
                </a:lnTo>
                <a:lnTo>
                  <a:pt x="96498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7178612" y="-491372"/>
            <a:ext cx="2985977" cy="842510"/>
            <a:chOff x="0" y="0"/>
            <a:chExt cx="786430" cy="2218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6430" cy="221896"/>
            </a:xfrm>
            <a:custGeom>
              <a:avLst/>
              <a:gdLst/>
              <a:ahLst/>
              <a:cxnLst/>
              <a:rect r="r" b="b" t="t" l="l"/>
              <a:pathLst>
                <a:path h="221896" w="786430">
                  <a:moveTo>
                    <a:pt x="583230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786430" y="221896"/>
                  </a:lnTo>
                  <a:lnTo>
                    <a:pt x="583230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38100"/>
              <a:ext cx="583230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090833" y="528549"/>
            <a:ext cx="2843670" cy="500151"/>
            <a:chOff x="0" y="0"/>
            <a:chExt cx="1261615" cy="2218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1615" cy="221896"/>
            </a:xfrm>
            <a:custGeom>
              <a:avLst/>
              <a:gdLst/>
              <a:ahLst/>
              <a:cxnLst/>
              <a:rect r="r" b="b" t="t" l="l"/>
              <a:pathLst>
                <a:path h="221896" w="1261615">
                  <a:moveTo>
                    <a:pt x="1058415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1261615" y="221896"/>
                  </a:lnTo>
                  <a:lnTo>
                    <a:pt x="1058415" y="0"/>
                  </a:lnTo>
                  <a:close/>
                </a:path>
              </a:pathLst>
            </a:custGeom>
            <a:solidFill>
              <a:srgbClr val="12366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01600" y="-38100"/>
              <a:ext cx="1058415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51644" y="341612"/>
            <a:ext cx="557745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79"/>
              </a:lnSpc>
            </a:pPr>
            <a:r>
              <a:rPr lang="en-US" b="true" sz="6399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CHALLENGES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67562" y="1830818"/>
            <a:ext cx="4980603" cy="6790555"/>
            <a:chOff x="0" y="0"/>
            <a:chExt cx="6640804" cy="9054073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209686" y="2132928"/>
              <a:ext cx="6431117" cy="6921145"/>
              <a:chOff x="0" y="0"/>
              <a:chExt cx="1270344" cy="136714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70344" cy="1367140"/>
              </a:xfrm>
              <a:custGeom>
                <a:avLst/>
                <a:gdLst/>
                <a:ahLst/>
                <a:cxnLst/>
                <a:rect r="r" b="b" t="t" l="l"/>
                <a:pathLst>
                  <a:path h="1367140" w="1270344">
                    <a:moveTo>
                      <a:pt x="0" y="0"/>
                    </a:moveTo>
                    <a:lnTo>
                      <a:pt x="1270344" y="0"/>
                    </a:lnTo>
                    <a:lnTo>
                      <a:pt x="1270344" y="1367140"/>
                    </a:lnTo>
                    <a:lnTo>
                      <a:pt x="0" y="1367140"/>
                    </a:ln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70344" cy="14052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09686" y="0"/>
              <a:ext cx="6431117" cy="1696714"/>
              <a:chOff x="0" y="0"/>
              <a:chExt cx="1270344" cy="33515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70344" cy="335153"/>
              </a:xfrm>
              <a:custGeom>
                <a:avLst/>
                <a:gdLst/>
                <a:ahLst/>
                <a:cxnLst/>
                <a:rect r="r" b="b" t="t" l="l"/>
                <a:pathLst>
                  <a:path h="335153" w="1270344">
                    <a:moveTo>
                      <a:pt x="0" y="0"/>
                    </a:moveTo>
                    <a:lnTo>
                      <a:pt x="1270344" y="0"/>
                    </a:lnTo>
                    <a:lnTo>
                      <a:pt x="1270344" y="335153"/>
                    </a:lnTo>
                    <a:lnTo>
                      <a:pt x="0" y="335153"/>
                    </a:lnTo>
                    <a:close/>
                  </a:path>
                </a:pathLst>
              </a:custGeom>
              <a:solidFill>
                <a:srgbClr val="27538C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70344" cy="3732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495393" y="96514"/>
              <a:ext cx="5859703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EDEDED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STATE MANAGEMENT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2132928"/>
              <a:ext cx="5969140" cy="57078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77240" indent="-388620" lvl="1">
                <a:lnSpc>
                  <a:spcPts val="4212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Accurately tracking vehicle statuses</a:t>
              </a:r>
              <a:r>
                <a:rPr lang="en-US" b="true" sz="3600">
                  <a:solidFill>
                    <a:srgbClr val="00000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 (Available, Rented, Maintenance)</a:t>
              </a:r>
            </a:p>
            <a:p>
              <a:pPr algn="l">
                <a:lnSpc>
                  <a:spcPts val="4212"/>
                </a:lnSpc>
              </a:pPr>
            </a:p>
            <a:p>
              <a:pPr algn="l" marL="777240" indent="-388620" lvl="1">
                <a:lnSpc>
                  <a:spcPts val="4212"/>
                </a:lnSpc>
                <a:buFont typeface="Arial"/>
                <a:buChar char="•"/>
              </a:pPr>
              <a:r>
                <a:rPr lang="en-US" sz="3600" strike="noStrike" u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</a:t>
              </a:r>
              <a:r>
                <a:rPr lang="en-US" sz="3600" strike="noStrike" u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r</a:t>
              </a:r>
              <a:r>
                <a:rPr lang="en-US" sz="3600" strike="noStrike" u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event</a:t>
              </a:r>
              <a:r>
                <a:rPr lang="en-US" sz="3600" strike="noStrike" u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ing multiple active rentals</a:t>
              </a:r>
              <a:r>
                <a:rPr lang="en-US" b="true" sz="3600" strike="noStrike" u="none">
                  <a:solidFill>
                    <a:srgbClr val="00000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 simultaneously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914171" y="1830818"/>
            <a:ext cx="6035194" cy="6790555"/>
            <a:chOff x="0" y="0"/>
            <a:chExt cx="8046925" cy="9054073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695721" y="2132928"/>
              <a:ext cx="6431117" cy="6921145"/>
              <a:chOff x="0" y="0"/>
              <a:chExt cx="1270344" cy="136714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270344" cy="1367140"/>
              </a:xfrm>
              <a:custGeom>
                <a:avLst/>
                <a:gdLst/>
                <a:ahLst/>
                <a:cxnLst/>
                <a:rect r="r" b="b" t="t" l="l"/>
                <a:pathLst>
                  <a:path h="1367140" w="1270344">
                    <a:moveTo>
                      <a:pt x="0" y="0"/>
                    </a:moveTo>
                    <a:lnTo>
                      <a:pt x="1270344" y="0"/>
                    </a:lnTo>
                    <a:lnTo>
                      <a:pt x="1270344" y="1367140"/>
                    </a:lnTo>
                    <a:lnTo>
                      <a:pt x="0" y="1367140"/>
                    </a:ln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1270344" cy="14052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695721" y="0"/>
              <a:ext cx="6431117" cy="1696714"/>
              <a:chOff x="0" y="0"/>
              <a:chExt cx="1270344" cy="335153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270344" cy="335153"/>
              </a:xfrm>
              <a:custGeom>
                <a:avLst/>
                <a:gdLst/>
                <a:ahLst/>
                <a:cxnLst/>
                <a:rect r="r" b="b" t="t" l="l"/>
                <a:pathLst>
                  <a:path h="335153" w="1270344">
                    <a:moveTo>
                      <a:pt x="0" y="0"/>
                    </a:moveTo>
                    <a:lnTo>
                      <a:pt x="1270344" y="0"/>
                    </a:lnTo>
                    <a:lnTo>
                      <a:pt x="1270344" y="335153"/>
                    </a:lnTo>
                    <a:lnTo>
                      <a:pt x="0" y="335153"/>
                    </a:lnTo>
                    <a:close/>
                  </a:path>
                </a:pathLst>
              </a:custGeom>
              <a:solidFill>
                <a:srgbClr val="27538C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1270344" cy="3732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1626044" y="448307"/>
              <a:ext cx="4570473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EDEDED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SECURITY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017176" y="2547614"/>
              <a:ext cx="5582818" cy="3574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77240" indent="-388620" lvl="1">
                <a:lnSpc>
                  <a:spcPts val="421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600" strike="noStrike" u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password hashing</a:t>
              </a:r>
            </a:p>
            <a:p>
              <a:pPr algn="l">
                <a:lnSpc>
                  <a:spcPts val="4212"/>
                </a:lnSpc>
                <a:spcBef>
                  <a:spcPct val="0"/>
                </a:spcBef>
              </a:pPr>
            </a:p>
            <a:p>
              <a:pPr algn="l" marL="777240" indent="-388620" lvl="1">
                <a:lnSpc>
                  <a:spcPts val="421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600" strike="noStrike" u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role-based access control</a:t>
              </a:r>
            </a:p>
            <a:p>
              <a:pPr algn="l">
                <a:lnSpc>
                  <a:spcPts val="4212"/>
                </a:lnSpc>
                <a:spcBef>
                  <a:spcPct val="0"/>
                </a:spcBef>
              </a:pP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5646189"/>
              <a:ext cx="8046925" cy="690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78"/>
                </a:lnSpc>
                <a:spcBef>
                  <a:spcPct val="0"/>
                </a:spcBef>
              </a:pPr>
              <a:r>
                <a:rPr lang="en-US" sz="3400" strike="noStrike" u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(users/ administrators)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6905572" y="3607188"/>
            <a:ext cx="4476855" cy="3747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b="true" sz="360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Implementing logic</a:t>
            </a:r>
          </a:p>
          <a:p>
            <a:pPr algn="l" marL="777240" indent="-388620" lvl="1">
              <a:lnSpc>
                <a:spcPts val="4212"/>
              </a:lnSpc>
              <a:buFont typeface="Arial"/>
              <a:buChar char="•"/>
            </a:pPr>
            <a:r>
              <a:rPr lang="en-US" sz="36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</a:t>
            </a:r>
            <a:r>
              <a:rPr lang="en-US" sz="36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reventing ending a rental at a</a:t>
            </a:r>
            <a:r>
              <a:rPr lang="en-US" sz="36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sta</a:t>
            </a:r>
            <a:r>
              <a:rPr lang="en-US" sz="36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tio</a:t>
            </a:r>
            <a:r>
              <a:rPr lang="en-US" sz="36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</a:t>
            </a:r>
          </a:p>
          <a:p>
            <a:pPr algn="l">
              <a:lnSpc>
                <a:spcPts val="4212"/>
              </a:lnSpc>
            </a:pPr>
          </a:p>
          <a:p>
            <a:pPr algn="l" marL="777240" indent="-388620" lvl="1">
              <a:lnSpc>
                <a:spcPts val="4212"/>
              </a:lnSpc>
              <a:buFont typeface="Arial"/>
              <a:buChar char="•"/>
            </a:pPr>
            <a:r>
              <a:rPr lang="en-US" sz="36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US" sz="36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exceeded its maximum vehicle capacity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696696" y="8477515"/>
            <a:ext cx="38078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dc325420 – Chang I Wai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538771" y="-249641"/>
            <a:ext cx="10786283" cy="1078628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3A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368171">
            <a:off x="8138760" y="3002675"/>
            <a:ext cx="8325708" cy="7947266"/>
          </a:xfrm>
          <a:custGeom>
            <a:avLst/>
            <a:gdLst/>
            <a:ahLst/>
            <a:cxnLst/>
            <a:rect r="r" b="b" t="t" l="l"/>
            <a:pathLst>
              <a:path h="7947266" w="8325708">
                <a:moveTo>
                  <a:pt x="0" y="0"/>
                </a:moveTo>
                <a:lnTo>
                  <a:pt x="8325708" y="0"/>
                </a:lnTo>
                <a:lnTo>
                  <a:pt x="8325708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354291" y="-499283"/>
            <a:ext cx="10786283" cy="1078628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5400000">
            <a:off x="-4080554" y="3955733"/>
            <a:ext cx="10536641" cy="2375534"/>
          </a:xfrm>
          <a:custGeom>
            <a:avLst/>
            <a:gdLst/>
            <a:ahLst/>
            <a:cxnLst/>
            <a:rect r="r" b="b" t="t" l="l"/>
            <a:pathLst>
              <a:path h="2375534" w="10536641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354291" y="4480324"/>
            <a:ext cx="4637582" cy="4114800"/>
          </a:xfrm>
          <a:custGeom>
            <a:avLst/>
            <a:gdLst/>
            <a:ahLst/>
            <a:cxnLst/>
            <a:rect r="r" b="b" t="t" l="l"/>
            <a:pathLst>
              <a:path h="4114800" w="4637582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26981" y="3416011"/>
            <a:ext cx="6069715" cy="4355021"/>
          </a:xfrm>
          <a:custGeom>
            <a:avLst/>
            <a:gdLst/>
            <a:ahLst/>
            <a:cxnLst/>
            <a:rect r="r" b="b" t="t" l="l"/>
            <a:pathLst>
              <a:path h="4355021" w="6069715">
                <a:moveTo>
                  <a:pt x="0" y="0"/>
                </a:moveTo>
                <a:lnTo>
                  <a:pt x="6069715" y="0"/>
                </a:lnTo>
                <a:lnTo>
                  <a:pt x="6069715" y="4355021"/>
                </a:lnTo>
                <a:lnTo>
                  <a:pt x="0" y="43550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734222" y="1690352"/>
            <a:ext cx="9134784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DELIVER</a:t>
            </a:r>
            <a:r>
              <a:rPr lang="en-US" b="true" sz="6399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</a:t>
            </a:r>
            <a:r>
              <a:rPr lang="en-US" sz="6399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</a:t>
            </a:r>
            <a:r>
              <a:rPr lang="en-US" b="true" sz="6399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</a:t>
            </a:r>
            <a:r>
              <a:rPr lang="en-US" sz="6399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31906" y="2960811"/>
            <a:ext cx="10139416" cy="517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fully functional, full-stack web application hosted on InfinityFree.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complete Full website source code (HTML, CSS, Javascript, PHP) 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Database script, content &amp; EER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     (Enhanced ER Diagram)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UML/BPMN diagram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96696" y="8477515"/>
            <a:ext cx="38078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dc325420 – Chang I Wai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21658" y="1371198"/>
            <a:ext cx="16053426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9"/>
              </a:lnSpc>
              <a:spcBef>
                <a:spcPct val="0"/>
              </a:spcBef>
            </a:pPr>
            <a:r>
              <a:rPr lang="en-US" b="true" sz="6399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DIVISIO</a:t>
            </a:r>
            <a:r>
              <a:rPr lang="en-US" b="true" sz="6399" strike="noStrike" u="non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</a:t>
            </a:r>
            <a:r>
              <a:rPr lang="en-US" b="true" sz="6399" strike="noStrike" u="non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</a:t>
            </a:r>
            <a:r>
              <a:rPr lang="en-US" b="true" sz="6399" strike="noStrike" u="non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</a:t>
            </a:r>
            <a:r>
              <a:rPr lang="en-US" b="true" sz="6399" strike="noStrike" u="non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 W</a:t>
            </a:r>
            <a:r>
              <a:rPr lang="en-US" b="true" sz="6399" strike="noStrike" u="non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</a:t>
            </a:r>
            <a:r>
              <a:rPr lang="en-US" b="true" sz="6399" strike="noStrike" u="non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RK AMON</a:t>
            </a:r>
            <a:r>
              <a:rPr lang="en-US" b="true" sz="6399" strike="noStrike" u="non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 </a:t>
            </a:r>
            <a:r>
              <a:rPr lang="en-US" b="true" sz="6399" strike="noStrike" u="non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</a:t>
            </a:r>
            <a:r>
              <a:rPr lang="en-US" b="true" sz="6399" strike="noStrike" u="non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</a:t>
            </a:r>
            <a:r>
              <a:rPr lang="en-US" b="true" sz="6399" strike="noStrike" u="non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 MEMBERS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55138" y="2804062"/>
            <a:ext cx="10938408" cy="1199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Hoi Kai Cheng &amp; Ho Weng Hong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Backe</a:t>
            </a:r>
            <a:r>
              <a:rPr lang="en-US" sz="33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nd architecture, PHP scripting, and MySQL database design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399828" y="9096375"/>
            <a:ext cx="14038876" cy="3707664"/>
            <a:chOff x="0" y="0"/>
            <a:chExt cx="840196" cy="2218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40196" cy="221896"/>
            </a:xfrm>
            <a:custGeom>
              <a:avLst/>
              <a:gdLst/>
              <a:ahLst/>
              <a:cxnLst/>
              <a:rect r="r" b="b" t="t" l="l"/>
              <a:pathLst>
                <a:path h="221896" w="840196">
                  <a:moveTo>
                    <a:pt x="636996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840196" y="221896"/>
                  </a:lnTo>
                  <a:lnTo>
                    <a:pt x="636996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636996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950968" y="9712581"/>
            <a:ext cx="3959336" cy="1630467"/>
            <a:chOff x="0" y="0"/>
            <a:chExt cx="538839" cy="221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8839" cy="221896"/>
            </a:xfrm>
            <a:custGeom>
              <a:avLst/>
              <a:gdLst/>
              <a:ahLst/>
              <a:cxnLst/>
              <a:rect r="r" b="b" t="t" l="l"/>
              <a:pathLst>
                <a:path h="221896" w="538839">
                  <a:moveTo>
                    <a:pt x="33563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538839" y="221896"/>
                  </a:lnTo>
                  <a:lnTo>
                    <a:pt x="335639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33563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32295" y="9864981"/>
            <a:ext cx="11424871" cy="769470"/>
            <a:chOff x="0" y="0"/>
            <a:chExt cx="3294642" cy="2218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94642" cy="221896"/>
            </a:xfrm>
            <a:custGeom>
              <a:avLst/>
              <a:gdLst/>
              <a:ahLst/>
              <a:cxnLst/>
              <a:rect r="r" b="b" t="t" l="l"/>
              <a:pathLst>
                <a:path h="221896" w="3294642">
                  <a:moveTo>
                    <a:pt x="3091442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3294642" y="221896"/>
                  </a:lnTo>
                  <a:lnTo>
                    <a:pt x="3091442" y="0"/>
                  </a:lnTo>
                  <a:close/>
                </a:path>
              </a:pathLst>
            </a:custGeom>
            <a:solidFill>
              <a:srgbClr val="12366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3091442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2247428" y="9248775"/>
            <a:ext cx="14038876" cy="3707664"/>
            <a:chOff x="0" y="0"/>
            <a:chExt cx="840196" cy="2218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0196" cy="221896"/>
            </a:xfrm>
            <a:custGeom>
              <a:avLst/>
              <a:gdLst/>
              <a:ahLst/>
              <a:cxnLst/>
              <a:rect r="r" b="b" t="t" l="l"/>
              <a:pathLst>
                <a:path h="221896" w="840196">
                  <a:moveTo>
                    <a:pt x="636996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840196" y="221896"/>
                  </a:lnTo>
                  <a:lnTo>
                    <a:pt x="636996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636996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798568" y="9864981"/>
            <a:ext cx="3959336" cy="1630467"/>
            <a:chOff x="0" y="0"/>
            <a:chExt cx="538839" cy="2218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8839" cy="221896"/>
            </a:xfrm>
            <a:custGeom>
              <a:avLst/>
              <a:gdLst/>
              <a:ahLst/>
              <a:cxnLst/>
              <a:rect r="r" b="b" t="t" l="l"/>
              <a:pathLst>
                <a:path h="221896" w="538839">
                  <a:moveTo>
                    <a:pt x="33563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538839" y="221896"/>
                  </a:lnTo>
                  <a:lnTo>
                    <a:pt x="335639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38100"/>
              <a:ext cx="33563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1073632" y="-206024"/>
            <a:ext cx="9649874" cy="1254484"/>
          </a:xfrm>
          <a:custGeom>
            <a:avLst/>
            <a:gdLst/>
            <a:ahLst/>
            <a:cxnLst/>
            <a:rect r="r" b="b" t="t" l="l"/>
            <a:pathLst>
              <a:path h="1254484" w="9649874">
                <a:moveTo>
                  <a:pt x="0" y="0"/>
                </a:moveTo>
                <a:lnTo>
                  <a:pt x="9649874" y="0"/>
                </a:lnTo>
                <a:lnTo>
                  <a:pt x="9649874" y="1254483"/>
                </a:lnTo>
                <a:lnTo>
                  <a:pt x="0" y="12544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6838637" y="-419137"/>
            <a:ext cx="2985977" cy="842510"/>
            <a:chOff x="0" y="0"/>
            <a:chExt cx="786430" cy="2218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6430" cy="221896"/>
            </a:xfrm>
            <a:custGeom>
              <a:avLst/>
              <a:gdLst/>
              <a:ahLst/>
              <a:cxnLst/>
              <a:rect r="r" b="b" t="t" l="l"/>
              <a:pathLst>
                <a:path h="221896" w="786430">
                  <a:moveTo>
                    <a:pt x="583230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786430" y="221896"/>
                  </a:lnTo>
                  <a:lnTo>
                    <a:pt x="583230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01600" y="-38100"/>
              <a:ext cx="583230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154407" y="421218"/>
            <a:ext cx="2843670" cy="600085"/>
            <a:chOff x="0" y="0"/>
            <a:chExt cx="1261615" cy="2662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61615" cy="266232"/>
            </a:xfrm>
            <a:custGeom>
              <a:avLst/>
              <a:gdLst/>
              <a:ahLst/>
              <a:cxnLst/>
              <a:rect r="r" b="b" t="t" l="l"/>
              <a:pathLst>
                <a:path h="266232" w="1261615">
                  <a:moveTo>
                    <a:pt x="1058415" y="0"/>
                  </a:moveTo>
                  <a:lnTo>
                    <a:pt x="0" y="0"/>
                  </a:lnTo>
                  <a:lnTo>
                    <a:pt x="203200" y="266232"/>
                  </a:lnTo>
                  <a:lnTo>
                    <a:pt x="1261615" y="266232"/>
                  </a:lnTo>
                  <a:lnTo>
                    <a:pt x="1058415" y="0"/>
                  </a:lnTo>
                  <a:close/>
                </a:path>
              </a:pathLst>
            </a:custGeom>
            <a:solidFill>
              <a:srgbClr val="12366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01600" y="-38100"/>
              <a:ext cx="1058415" cy="304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21658" y="2675157"/>
            <a:ext cx="2948278" cy="1543050"/>
            <a:chOff x="0" y="0"/>
            <a:chExt cx="776501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76501" cy="406400"/>
            </a:xfrm>
            <a:custGeom>
              <a:avLst/>
              <a:gdLst/>
              <a:ahLst/>
              <a:cxnLst/>
              <a:rect r="r" b="b" t="t" l="l"/>
              <a:pathLst>
                <a:path h="406400" w="776501">
                  <a:moveTo>
                    <a:pt x="44641" y="0"/>
                  </a:moveTo>
                  <a:lnTo>
                    <a:pt x="731861" y="0"/>
                  </a:lnTo>
                  <a:cubicBezTo>
                    <a:pt x="756515" y="0"/>
                    <a:pt x="776501" y="19986"/>
                    <a:pt x="776501" y="44641"/>
                  </a:cubicBezTo>
                  <a:lnTo>
                    <a:pt x="776501" y="361759"/>
                  </a:lnTo>
                  <a:cubicBezTo>
                    <a:pt x="776501" y="386414"/>
                    <a:pt x="756515" y="406400"/>
                    <a:pt x="731861" y="406400"/>
                  </a:cubicBezTo>
                  <a:lnTo>
                    <a:pt x="44641" y="406400"/>
                  </a:lnTo>
                  <a:cubicBezTo>
                    <a:pt x="19986" y="406400"/>
                    <a:pt x="0" y="386414"/>
                    <a:pt x="0" y="361759"/>
                  </a:cubicBezTo>
                  <a:lnTo>
                    <a:pt x="0" y="44641"/>
                  </a:lnTo>
                  <a:cubicBezTo>
                    <a:pt x="0" y="19986"/>
                    <a:pt x="19986" y="0"/>
                    <a:pt x="44641" y="0"/>
                  </a:cubicBezTo>
                  <a:close/>
                </a:path>
              </a:pathLst>
            </a:custGeom>
            <a:solidFill>
              <a:srgbClr val="00306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776501" cy="48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b="true" sz="42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Pair 09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21658" y="4632514"/>
            <a:ext cx="2948278" cy="1543050"/>
            <a:chOff x="0" y="0"/>
            <a:chExt cx="776501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76501" cy="406400"/>
            </a:xfrm>
            <a:custGeom>
              <a:avLst/>
              <a:gdLst/>
              <a:ahLst/>
              <a:cxnLst/>
              <a:rect r="r" b="b" t="t" l="l"/>
              <a:pathLst>
                <a:path h="406400" w="776501">
                  <a:moveTo>
                    <a:pt x="44641" y="0"/>
                  </a:moveTo>
                  <a:lnTo>
                    <a:pt x="731861" y="0"/>
                  </a:lnTo>
                  <a:cubicBezTo>
                    <a:pt x="756515" y="0"/>
                    <a:pt x="776501" y="19986"/>
                    <a:pt x="776501" y="44641"/>
                  </a:cubicBezTo>
                  <a:lnTo>
                    <a:pt x="776501" y="361759"/>
                  </a:lnTo>
                  <a:cubicBezTo>
                    <a:pt x="776501" y="386414"/>
                    <a:pt x="756515" y="406400"/>
                    <a:pt x="731861" y="406400"/>
                  </a:cubicBezTo>
                  <a:lnTo>
                    <a:pt x="44641" y="406400"/>
                  </a:lnTo>
                  <a:cubicBezTo>
                    <a:pt x="19986" y="406400"/>
                    <a:pt x="0" y="386414"/>
                    <a:pt x="0" y="361759"/>
                  </a:cubicBezTo>
                  <a:lnTo>
                    <a:pt x="0" y="44641"/>
                  </a:lnTo>
                  <a:cubicBezTo>
                    <a:pt x="0" y="19986"/>
                    <a:pt x="19986" y="0"/>
                    <a:pt x="44641" y="0"/>
                  </a:cubicBezTo>
                  <a:close/>
                </a:path>
              </a:pathLst>
            </a:custGeom>
            <a:solidFill>
              <a:srgbClr val="00306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776501" cy="48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b="true" sz="42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Pair 07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21658" y="6690501"/>
            <a:ext cx="2948278" cy="1543050"/>
            <a:chOff x="0" y="0"/>
            <a:chExt cx="776501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76501" cy="406400"/>
            </a:xfrm>
            <a:custGeom>
              <a:avLst/>
              <a:gdLst/>
              <a:ahLst/>
              <a:cxnLst/>
              <a:rect r="r" b="b" t="t" l="l"/>
              <a:pathLst>
                <a:path h="406400" w="776501">
                  <a:moveTo>
                    <a:pt x="44641" y="0"/>
                  </a:moveTo>
                  <a:lnTo>
                    <a:pt x="731861" y="0"/>
                  </a:lnTo>
                  <a:cubicBezTo>
                    <a:pt x="756515" y="0"/>
                    <a:pt x="776501" y="19986"/>
                    <a:pt x="776501" y="44641"/>
                  </a:cubicBezTo>
                  <a:lnTo>
                    <a:pt x="776501" y="361759"/>
                  </a:lnTo>
                  <a:cubicBezTo>
                    <a:pt x="776501" y="386414"/>
                    <a:pt x="756515" y="406400"/>
                    <a:pt x="731861" y="406400"/>
                  </a:cubicBezTo>
                  <a:lnTo>
                    <a:pt x="44641" y="406400"/>
                  </a:lnTo>
                  <a:cubicBezTo>
                    <a:pt x="19986" y="406400"/>
                    <a:pt x="0" y="386414"/>
                    <a:pt x="0" y="361759"/>
                  </a:cubicBezTo>
                  <a:lnTo>
                    <a:pt x="0" y="44641"/>
                  </a:lnTo>
                  <a:cubicBezTo>
                    <a:pt x="0" y="19986"/>
                    <a:pt x="19986" y="0"/>
                    <a:pt x="44641" y="0"/>
                  </a:cubicBezTo>
                  <a:close/>
                </a:path>
              </a:pathLst>
            </a:custGeom>
            <a:solidFill>
              <a:srgbClr val="00306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776501" cy="48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b="true" sz="42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Pair 14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5355138" y="4470906"/>
            <a:ext cx="10938408" cy="1780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Che Chi Hin &amp; Chang I Wai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Frontend UI/UX design, responsive HTML/CSS layouts, and JavaScript interactions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355138" y="6718171"/>
            <a:ext cx="9285878" cy="1780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Chung Hou Sam &amp; Lei Man Lam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</a:t>
            </a:r>
            <a:r>
              <a:rPr lang="en-US" sz="33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tem testing, UML documentation, admin portal services, and GitHub version control management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409840" y="8616885"/>
            <a:ext cx="433280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dc325095 – Chung Hou Sam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36903" y="1009650"/>
            <a:ext cx="1298707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CONTRIBUTIONS FROM TEAM MEMBERS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-5400000">
            <a:off x="-3566058" y="3566058"/>
            <a:ext cx="10405520" cy="3273403"/>
          </a:xfrm>
          <a:custGeom>
            <a:avLst/>
            <a:gdLst/>
            <a:ahLst/>
            <a:cxnLst/>
            <a:rect r="r" b="b" t="t" l="l"/>
            <a:pathLst>
              <a:path h="3273403" w="10405520">
                <a:moveTo>
                  <a:pt x="0" y="3273404"/>
                </a:moveTo>
                <a:lnTo>
                  <a:pt x="10405520" y="3273404"/>
                </a:lnTo>
                <a:lnTo>
                  <a:pt x="10405520" y="0"/>
                </a:lnTo>
                <a:lnTo>
                  <a:pt x="0" y="0"/>
                </a:lnTo>
                <a:lnTo>
                  <a:pt x="0" y="327340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97689" y="2428271"/>
            <a:ext cx="4207272" cy="4207272"/>
          </a:xfrm>
          <a:custGeom>
            <a:avLst/>
            <a:gdLst/>
            <a:ahLst/>
            <a:cxnLst/>
            <a:rect r="r" b="b" t="t" l="l"/>
            <a:pathLst>
              <a:path h="4207272" w="4207272">
                <a:moveTo>
                  <a:pt x="0" y="0"/>
                </a:moveTo>
                <a:lnTo>
                  <a:pt x="4207272" y="0"/>
                </a:lnTo>
                <a:lnTo>
                  <a:pt x="4207272" y="4207272"/>
                </a:lnTo>
                <a:lnTo>
                  <a:pt x="0" y="42072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46725" y="2026618"/>
            <a:ext cx="3813886" cy="4608925"/>
          </a:xfrm>
          <a:custGeom>
            <a:avLst/>
            <a:gdLst/>
            <a:ahLst/>
            <a:cxnLst/>
            <a:rect r="r" b="b" t="t" l="l"/>
            <a:pathLst>
              <a:path h="4608925" w="3813886">
                <a:moveTo>
                  <a:pt x="0" y="0"/>
                </a:moveTo>
                <a:lnTo>
                  <a:pt x="3813885" y="0"/>
                </a:lnTo>
                <a:lnTo>
                  <a:pt x="3813885" y="4608925"/>
                </a:lnTo>
                <a:lnTo>
                  <a:pt x="0" y="4608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72212" y="7120714"/>
            <a:ext cx="7658226" cy="1895215"/>
            <a:chOff x="0" y="0"/>
            <a:chExt cx="10210969" cy="252695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2866599" y="-9525"/>
              <a:ext cx="4477771" cy="911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123664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Hoi Kai Cheng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060527"/>
              <a:ext cx="10210969" cy="1466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Team Leadership, Core B</a:t>
              </a: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acken</a:t>
              </a: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d/Database Architecture, Deployment setup.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24554" y="7142748"/>
            <a:ext cx="7658226" cy="1910478"/>
            <a:chOff x="0" y="0"/>
            <a:chExt cx="10210969" cy="254730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2264343" y="-9525"/>
              <a:ext cx="5682282" cy="911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123664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Ho Weng Hong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80877"/>
              <a:ext cx="10210969" cy="1466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Staff &amp; Admin Portal Log</a:t>
              </a: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ic, Role-ba</a:t>
              </a: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sed Acce</a:t>
              </a: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</a:t>
              </a: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 Control.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586822" y="9525000"/>
            <a:ext cx="433280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dc325095 – Chung Hou Sam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36903" y="1009650"/>
            <a:ext cx="1298707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CONTRIBUTIONS FROM TEAM MEMBERS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-5400000">
            <a:off x="-3566058" y="3566058"/>
            <a:ext cx="10405520" cy="3273403"/>
          </a:xfrm>
          <a:custGeom>
            <a:avLst/>
            <a:gdLst/>
            <a:ahLst/>
            <a:cxnLst/>
            <a:rect r="r" b="b" t="t" l="l"/>
            <a:pathLst>
              <a:path h="3273403" w="10405520">
                <a:moveTo>
                  <a:pt x="0" y="3273404"/>
                </a:moveTo>
                <a:lnTo>
                  <a:pt x="10405520" y="3273404"/>
                </a:lnTo>
                <a:lnTo>
                  <a:pt x="10405520" y="0"/>
                </a:lnTo>
                <a:lnTo>
                  <a:pt x="0" y="0"/>
                </a:lnTo>
                <a:lnTo>
                  <a:pt x="0" y="327340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82851" y="2179081"/>
            <a:ext cx="4941633" cy="4941633"/>
          </a:xfrm>
          <a:custGeom>
            <a:avLst/>
            <a:gdLst/>
            <a:ahLst/>
            <a:cxnLst/>
            <a:rect r="r" b="b" t="t" l="l"/>
            <a:pathLst>
              <a:path h="4941633" w="4941633">
                <a:moveTo>
                  <a:pt x="0" y="0"/>
                </a:moveTo>
                <a:lnTo>
                  <a:pt x="4941633" y="0"/>
                </a:lnTo>
                <a:lnTo>
                  <a:pt x="4941633" y="4941633"/>
                </a:lnTo>
                <a:lnTo>
                  <a:pt x="0" y="4941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73403" y="2059837"/>
            <a:ext cx="4944139" cy="4944139"/>
          </a:xfrm>
          <a:custGeom>
            <a:avLst/>
            <a:gdLst/>
            <a:ahLst/>
            <a:cxnLst/>
            <a:rect r="r" b="b" t="t" l="l"/>
            <a:pathLst>
              <a:path h="4944139" w="4944139">
                <a:moveTo>
                  <a:pt x="0" y="0"/>
                </a:moveTo>
                <a:lnTo>
                  <a:pt x="4944140" y="0"/>
                </a:lnTo>
                <a:lnTo>
                  <a:pt x="4944140" y="4944140"/>
                </a:lnTo>
                <a:lnTo>
                  <a:pt x="0" y="49441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72212" y="7120714"/>
            <a:ext cx="7658226" cy="1895215"/>
            <a:chOff x="0" y="0"/>
            <a:chExt cx="10210969" cy="252695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2866599" y="-9525"/>
              <a:ext cx="4477771" cy="911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123664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Che Chi Hin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060527"/>
              <a:ext cx="10210969" cy="1466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Frontend UI/UX Red</a:t>
              </a: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</a:t>
              </a: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sig</a:t>
              </a: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n, Mo</a:t>
              </a: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dal impleme</a:t>
              </a: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nt</a:t>
              </a: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ations.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24554" y="7142748"/>
            <a:ext cx="7658226" cy="1348503"/>
            <a:chOff x="0" y="0"/>
            <a:chExt cx="10210969" cy="179800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2264343" y="-9525"/>
              <a:ext cx="5682282" cy="911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123664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Chang I Wai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80877"/>
              <a:ext cx="10210969" cy="717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Leaflet Map API Int</a:t>
              </a: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egration, Geoloca</a:t>
              </a: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tion logi</a:t>
              </a: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586822" y="9525000"/>
            <a:ext cx="433280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dc325095 – Chung Hou Sam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36903" y="1009650"/>
            <a:ext cx="1298707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CONTRIBUTIONS FROM TEAM MEMBERS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-5400000">
            <a:off x="-3566058" y="3566058"/>
            <a:ext cx="10405520" cy="3273403"/>
          </a:xfrm>
          <a:custGeom>
            <a:avLst/>
            <a:gdLst/>
            <a:ahLst/>
            <a:cxnLst/>
            <a:rect r="r" b="b" t="t" l="l"/>
            <a:pathLst>
              <a:path h="3273403" w="10405520">
                <a:moveTo>
                  <a:pt x="0" y="3273404"/>
                </a:moveTo>
                <a:lnTo>
                  <a:pt x="10405520" y="3273404"/>
                </a:lnTo>
                <a:lnTo>
                  <a:pt x="10405520" y="0"/>
                </a:lnTo>
                <a:lnTo>
                  <a:pt x="0" y="0"/>
                </a:lnTo>
                <a:lnTo>
                  <a:pt x="0" y="327340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84959" y="2185440"/>
            <a:ext cx="4337416" cy="4957308"/>
          </a:xfrm>
          <a:custGeom>
            <a:avLst/>
            <a:gdLst/>
            <a:ahLst/>
            <a:cxnLst/>
            <a:rect r="r" b="b" t="t" l="l"/>
            <a:pathLst>
              <a:path h="4957308" w="4337416">
                <a:moveTo>
                  <a:pt x="0" y="0"/>
                </a:moveTo>
                <a:lnTo>
                  <a:pt x="4337417" y="0"/>
                </a:lnTo>
                <a:lnTo>
                  <a:pt x="4337417" y="4957308"/>
                </a:lnTo>
                <a:lnTo>
                  <a:pt x="0" y="49573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525" r="0" b="-33022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87810" y="2109104"/>
            <a:ext cx="4733808" cy="5011610"/>
            <a:chOff x="0" y="0"/>
            <a:chExt cx="3994673" cy="4229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94674" cy="4229100"/>
            </a:xfrm>
            <a:custGeom>
              <a:avLst/>
              <a:gdLst/>
              <a:ahLst/>
              <a:cxnLst/>
              <a:rect r="r" b="b" t="t" l="l"/>
              <a:pathLst>
                <a:path h="4229100" w="3994674">
                  <a:moveTo>
                    <a:pt x="3734845" y="4229100"/>
                  </a:moveTo>
                  <a:lnTo>
                    <a:pt x="259829" y="4229100"/>
                  </a:lnTo>
                  <a:cubicBezTo>
                    <a:pt x="116365" y="4229100"/>
                    <a:pt x="0" y="4043680"/>
                    <a:pt x="0" y="3816350"/>
                  </a:cubicBezTo>
                  <a:lnTo>
                    <a:pt x="0" y="414020"/>
                  </a:lnTo>
                  <a:cubicBezTo>
                    <a:pt x="0" y="185420"/>
                    <a:pt x="116365" y="0"/>
                    <a:pt x="259829" y="0"/>
                  </a:cubicBezTo>
                  <a:lnTo>
                    <a:pt x="3734845" y="0"/>
                  </a:lnTo>
                  <a:cubicBezTo>
                    <a:pt x="3878308" y="0"/>
                    <a:pt x="3994674" y="185420"/>
                    <a:pt x="3994674" y="414020"/>
                  </a:cubicBezTo>
                  <a:lnTo>
                    <a:pt x="3994674" y="3816350"/>
                  </a:lnTo>
                  <a:cubicBezTo>
                    <a:pt x="3994674" y="4043680"/>
                    <a:pt x="3878308" y="4229100"/>
                    <a:pt x="3734845" y="4229100"/>
                  </a:cubicBezTo>
                  <a:close/>
                </a:path>
              </a:pathLst>
            </a:custGeom>
            <a:blipFill>
              <a:blip r:embed="rId5"/>
              <a:stretch>
                <a:fillRect l="0" t="-20842" r="0" b="-2084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025600" y="7120714"/>
            <a:ext cx="7658226" cy="1976579"/>
            <a:chOff x="0" y="0"/>
            <a:chExt cx="10210969" cy="2635439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2528748" y="-9525"/>
              <a:ext cx="5153472" cy="911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123664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Chung Hou Sam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69012"/>
              <a:ext cx="10210969" cy="1466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Database Sch</a:t>
              </a: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ema</a:t>
              </a: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 design, Migra</a:t>
              </a: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tions,</a:t>
              </a: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 Seed Data.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24554" y="7142748"/>
            <a:ext cx="7658226" cy="2472453"/>
            <a:chOff x="0" y="0"/>
            <a:chExt cx="10210969" cy="329660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2264343" y="-9525"/>
              <a:ext cx="5682282" cy="911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123664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Lei Man Lam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080877"/>
              <a:ext cx="10210969" cy="22157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i18n Multi-language Integration, Documentation and successfully deployed the fin</a:t>
              </a: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al system platfo</a:t>
              </a:r>
              <a:r>
                <a:rPr lang="en-US" sz="32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rm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586822" y="9525000"/>
            <a:ext cx="433280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dc325095 – Chung Hou Sam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1683" y="1028700"/>
            <a:ext cx="20455323" cy="8229600"/>
            <a:chOff x="0" y="0"/>
            <a:chExt cx="5387410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87410" cy="2167467"/>
            </a:xfrm>
            <a:custGeom>
              <a:avLst/>
              <a:gdLst/>
              <a:ahLst/>
              <a:cxnLst/>
              <a:rect r="r" b="b" t="t" l="l"/>
              <a:pathLst>
                <a:path h="2167467" w="5387410">
                  <a:moveTo>
                    <a:pt x="0" y="0"/>
                  </a:moveTo>
                  <a:lnTo>
                    <a:pt x="5387410" y="0"/>
                  </a:lnTo>
                  <a:lnTo>
                    <a:pt x="538741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387410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8973545" y="-6577070"/>
            <a:ext cx="16912758" cy="1557251"/>
            <a:chOff x="0" y="0"/>
            <a:chExt cx="2409929" cy="2218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09929" cy="221896"/>
            </a:xfrm>
            <a:custGeom>
              <a:avLst/>
              <a:gdLst/>
              <a:ahLst/>
              <a:cxnLst/>
              <a:rect r="r" b="b" t="t" l="l"/>
              <a:pathLst>
                <a:path h="2218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2409929" y="2218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20672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11448538" y="3447538"/>
            <a:ext cx="10405520" cy="3273403"/>
          </a:xfrm>
          <a:custGeom>
            <a:avLst/>
            <a:gdLst/>
            <a:ahLst/>
            <a:cxnLst/>
            <a:rect r="r" b="b" t="t" l="l"/>
            <a:pathLst>
              <a:path h="3273403" w="10405520">
                <a:moveTo>
                  <a:pt x="0" y="0"/>
                </a:moveTo>
                <a:lnTo>
                  <a:pt x="10405520" y="0"/>
                </a:lnTo>
                <a:lnTo>
                  <a:pt x="10405520" y="3273404"/>
                </a:lnTo>
                <a:lnTo>
                  <a:pt x="0" y="3273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30468" y="819154"/>
            <a:ext cx="3991351" cy="419092"/>
          </a:xfrm>
          <a:custGeom>
            <a:avLst/>
            <a:gdLst/>
            <a:ahLst/>
            <a:cxnLst/>
            <a:rect r="r" b="b" t="t" l="l"/>
            <a:pathLst>
              <a:path h="419092" w="3991351">
                <a:moveTo>
                  <a:pt x="0" y="0"/>
                </a:moveTo>
                <a:lnTo>
                  <a:pt x="3991351" y="0"/>
                </a:lnTo>
                <a:lnTo>
                  <a:pt x="3991351" y="419092"/>
                </a:lnTo>
                <a:lnTo>
                  <a:pt x="0" y="419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5400000">
            <a:off x="-8206305" y="-6799824"/>
            <a:ext cx="16912758" cy="1557251"/>
            <a:chOff x="0" y="0"/>
            <a:chExt cx="2409929" cy="2218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09929" cy="221896"/>
            </a:xfrm>
            <a:custGeom>
              <a:avLst/>
              <a:gdLst/>
              <a:ahLst/>
              <a:cxnLst/>
              <a:rect r="r" b="b" t="t" l="l"/>
              <a:pathLst>
                <a:path h="2218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2409929" y="2218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220672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32020" y="5290054"/>
            <a:ext cx="9158251" cy="111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Preserves committed database transactions (start/end rentals) even during unexpected failures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283393" y="927230"/>
            <a:ext cx="8432540" cy="843254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6"/>
              <a:stretch>
                <a:fillRect l="-24931" t="0" r="-24931" b="0"/>
              </a:stretch>
            </a:blipFill>
            <a:ln w="76200" cap="sq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00BF63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4875872" y="1368380"/>
            <a:ext cx="8536256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CRITERIA OF SUCCESS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2020" y="3258009"/>
            <a:ext cx="9046352" cy="111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 supports 50 concurrent us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rs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&lt; 2 s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econ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response time 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s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operations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4736577"/>
            <a:ext cx="904303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4499" b="tru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Reliability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2020" y="2648409"/>
            <a:ext cx="904303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4499" b="tru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Performance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6856599"/>
            <a:ext cx="904303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4499" b="tru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Functionality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7466199"/>
            <a:ext cx="9158251" cy="111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over lots of the core modules (Signup, Login, Dashboard, Rental Workflows) operate without critical bugs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86822" y="9525000"/>
            <a:ext cx="433280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dc325095 – Chung Hou Sam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36903" y="1009650"/>
            <a:ext cx="1298707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CONTRIBUTIONS FROM TEAM MEMBERS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-5400000">
            <a:off x="-3566058" y="3566058"/>
            <a:ext cx="10405520" cy="3273403"/>
          </a:xfrm>
          <a:custGeom>
            <a:avLst/>
            <a:gdLst/>
            <a:ahLst/>
            <a:cxnLst/>
            <a:rect r="r" b="b" t="t" l="l"/>
            <a:pathLst>
              <a:path h="3273403" w="10405520">
                <a:moveTo>
                  <a:pt x="0" y="3273404"/>
                </a:moveTo>
                <a:lnTo>
                  <a:pt x="10405520" y="3273404"/>
                </a:lnTo>
                <a:lnTo>
                  <a:pt x="10405520" y="0"/>
                </a:lnTo>
                <a:lnTo>
                  <a:pt x="0" y="0"/>
                </a:lnTo>
                <a:lnTo>
                  <a:pt x="0" y="327340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11622" y="3212215"/>
            <a:ext cx="9437634" cy="5918435"/>
          </a:xfrm>
          <a:custGeom>
            <a:avLst/>
            <a:gdLst/>
            <a:ahLst/>
            <a:cxnLst/>
            <a:rect r="r" b="b" t="t" l="l"/>
            <a:pathLst>
              <a:path h="5918435" w="9437634">
                <a:moveTo>
                  <a:pt x="0" y="0"/>
                </a:moveTo>
                <a:lnTo>
                  <a:pt x="9437633" y="0"/>
                </a:lnTo>
                <a:lnTo>
                  <a:pt x="9437633" y="5918434"/>
                </a:lnTo>
                <a:lnTo>
                  <a:pt x="0" y="59184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596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90573" y="5810250"/>
            <a:ext cx="3421049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sz="4499" b="tru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Chang I Wai 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26293" y="9248775"/>
            <a:ext cx="290405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99"/>
              </a:lnSpc>
              <a:spcBef>
                <a:spcPct val="0"/>
              </a:spcBef>
            </a:pPr>
            <a:r>
              <a:rPr lang="en-US" b="true" sz="4499" strike="noStrike" u="non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Lei Man Lam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73403" y="2229995"/>
            <a:ext cx="37313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99"/>
              </a:lnSpc>
              <a:spcBef>
                <a:spcPct val="0"/>
              </a:spcBef>
            </a:pPr>
            <a:r>
              <a:rPr lang="en-US" b="true" sz="4499" strike="noStrike" u="non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HO WENG HONG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82864" y="2229995"/>
            <a:ext cx="2671048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99"/>
              </a:lnSpc>
              <a:spcBef>
                <a:spcPct val="0"/>
              </a:spcBef>
            </a:pPr>
            <a:r>
              <a:rPr lang="en-US" b="true" sz="4499" strike="noStrike" u="non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Che Chi Hin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32074" y="2229995"/>
            <a:ext cx="322076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99"/>
              </a:lnSpc>
              <a:spcBef>
                <a:spcPct val="0"/>
              </a:spcBef>
            </a:pPr>
            <a:r>
              <a:rPr lang="en-US" b="true" sz="4499" strike="noStrike" u="non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Hoi Kai Cheng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20098" y="5133975"/>
            <a:ext cx="3638193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99"/>
              </a:lnSpc>
              <a:spcBef>
                <a:spcPct val="0"/>
              </a:spcBef>
            </a:pPr>
            <a:r>
              <a:rPr lang="en-US" b="true" sz="4499" strike="noStrike" u="non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Chung Hou Sam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26496" y="9611360"/>
            <a:ext cx="433280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dc325095 – Chung Hou Sam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36903" y="1009650"/>
            <a:ext cx="1298707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LIVE SYSTEM DEMO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-5400000">
            <a:off x="-3566058" y="3566058"/>
            <a:ext cx="10405520" cy="3273403"/>
          </a:xfrm>
          <a:custGeom>
            <a:avLst/>
            <a:gdLst/>
            <a:ahLst/>
            <a:cxnLst/>
            <a:rect r="r" b="b" t="t" l="l"/>
            <a:pathLst>
              <a:path h="3273403" w="10405520">
                <a:moveTo>
                  <a:pt x="0" y="3273404"/>
                </a:moveTo>
                <a:lnTo>
                  <a:pt x="10405520" y="3273404"/>
                </a:lnTo>
                <a:lnTo>
                  <a:pt x="10405520" y="0"/>
                </a:lnTo>
                <a:lnTo>
                  <a:pt x="0" y="0"/>
                </a:lnTo>
                <a:lnTo>
                  <a:pt x="0" y="327340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7603" y="1943100"/>
            <a:ext cx="11301259" cy="6159186"/>
          </a:xfrm>
          <a:custGeom>
            <a:avLst/>
            <a:gdLst/>
            <a:ahLst/>
            <a:cxnLst/>
            <a:rect r="r" b="b" t="t" l="l"/>
            <a:pathLst>
              <a:path h="6159186" w="11301259">
                <a:moveTo>
                  <a:pt x="0" y="0"/>
                </a:moveTo>
                <a:lnTo>
                  <a:pt x="11301259" y="0"/>
                </a:lnTo>
                <a:lnTo>
                  <a:pt x="11301259" y="6159186"/>
                </a:lnTo>
                <a:lnTo>
                  <a:pt x="0" y="61591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59872" y="2815190"/>
            <a:ext cx="4433026" cy="4415005"/>
          </a:xfrm>
          <a:custGeom>
            <a:avLst/>
            <a:gdLst/>
            <a:ahLst/>
            <a:cxnLst/>
            <a:rect r="r" b="b" t="t" l="l"/>
            <a:pathLst>
              <a:path h="4415005" w="4433026">
                <a:moveTo>
                  <a:pt x="0" y="0"/>
                </a:moveTo>
                <a:lnTo>
                  <a:pt x="4433026" y="0"/>
                </a:lnTo>
                <a:lnTo>
                  <a:pt x="4433026" y="4415006"/>
                </a:lnTo>
                <a:lnTo>
                  <a:pt x="0" y="44150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926496" y="9611360"/>
            <a:ext cx="433280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dc325095 – Chung Hou Sam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07199" y="8232645"/>
            <a:ext cx="7273603" cy="80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6" tooltip="https://cisc3003team01.gt.tc"/>
              </a:rPr>
              <a:t>https://cisc3003team01.gt.tc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30075" y="-798034"/>
            <a:ext cx="11261636" cy="8558844"/>
          </a:xfrm>
          <a:custGeom>
            <a:avLst/>
            <a:gdLst/>
            <a:ahLst/>
            <a:cxnLst/>
            <a:rect r="r" b="b" t="t" l="l"/>
            <a:pathLst>
              <a:path h="8558844" w="11261636">
                <a:moveTo>
                  <a:pt x="0" y="0"/>
                </a:moveTo>
                <a:lnTo>
                  <a:pt x="11261636" y="0"/>
                </a:lnTo>
                <a:lnTo>
                  <a:pt x="11261636" y="8558844"/>
                </a:lnTo>
                <a:lnTo>
                  <a:pt x="0" y="8558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4244" y="6861499"/>
            <a:ext cx="18536489" cy="4179136"/>
          </a:xfrm>
          <a:custGeom>
            <a:avLst/>
            <a:gdLst/>
            <a:ahLst/>
            <a:cxnLst/>
            <a:rect r="r" b="b" t="t" l="l"/>
            <a:pathLst>
              <a:path h="4179136" w="18536489">
                <a:moveTo>
                  <a:pt x="0" y="0"/>
                </a:moveTo>
                <a:lnTo>
                  <a:pt x="18536488" y="0"/>
                </a:lnTo>
                <a:lnTo>
                  <a:pt x="18536488" y="4179135"/>
                </a:lnTo>
                <a:lnTo>
                  <a:pt x="0" y="41791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155104" y="4086344"/>
            <a:ext cx="6006434" cy="6954291"/>
            <a:chOff x="0" y="0"/>
            <a:chExt cx="1235892" cy="14309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35892" cy="1430924"/>
            </a:xfrm>
            <a:custGeom>
              <a:avLst/>
              <a:gdLst/>
              <a:ahLst/>
              <a:cxnLst/>
              <a:rect r="r" b="b" t="t" l="l"/>
              <a:pathLst>
                <a:path h="1430924" w="1235892">
                  <a:moveTo>
                    <a:pt x="64447" y="0"/>
                  </a:moveTo>
                  <a:lnTo>
                    <a:pt x="1171445" y="0"/>
                  </a:lnTo>
                  <a:cubicBezTo>
                    <a:pt x="1188537" y="0"/>
                    <a:pt x="1204930" y="6790"/>
                    <a:pt x="1217016" y="18876"/>
                  </a:cubicBezTo>
                  <a:cubicBezTo>
                    <a:pt x="1229102" y="30962"/>
                    <a:pt x="1235892" y="47355"/>
                    <a:pt x="1235892" y="64447"/>
                  </a:cubicBezTo>
                  <a:lnTo>
                    <a:pt x="1235892" y="1366477"/>
                  </a:lnTo>
                  <a:cubicBezTo>
                    <a:pt x="1235892" y="1383570"/>
                    <a:pt x="1229102" y="1399962"/>
                    <a:pt x="1217016" y="1412048"/>
                  </a:cubicBezTo>
                  <a:cubicBezTo>
                    <a:pt x="1204930" y="1424134"/>
                    <a:pt x="1188537" y="1430924"/>
                    <a:pt x="1171445" y="1430924"/>
                  </a:cubicBezTo>
                  <a:lnTo>
                    <a:pt x="64447" y="1430924"/>
                  </a:lnTo>
                  <a:cubicBezTo>
                    <a:pt x="47355" y="1430924"/>
                    <a:pt x="30962" y="1424134"/>
                    <a:pt x="18876" y="1412048"/>
                  </a:cubicBezTo>
                  <a:cubicBezTo>
                    <a:pt x="6790" y="1399962"/>
                    <a:pt x="0" y="1383570"/>
                    <a:pt x="0" y="1366477"/>
                  </a:cubicBezTo>
                  <a:lnTo>
                    <a:pt x="0" y="64447"/>
                  </a:lnTo>
                  <a:cubicBezTo>
                    <a:pt x="0" y="47355"/>
                    <a:pt x="6790" y="30962"/>
                    <a:pt x="18876" y="18876"/>
                  </a:cubicBezTo>
                  <a:cubicBezTo>
                    <a:pt x="30962" y="6790"/>
                    <a:pt x="47355" y="0"/>
                    <a:pt x="6444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35892" cy="1469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126462" y="4086344"/>
            <a:ext cx="6006434" cy="6954291"/>
            <a:chOff x="0" y="0"/>
            <a:chExt cx="1235892" cy="14309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5892" cy="1430924"/>
            </a:xfrm>
            <a:custGeom>
              <a:avLst/>
              <a:gdLst/>
              <a:ahLst/>
              <a:cxnLst/>
              <a:rect r="r" b="b" t="t" l="l"/>
              <a:pathLst>
                <a:path h="1430924" w="1235892">
                  <a:moveTo>
                    <a:pt x="64447" y="0"/>
                  </a:moveTo>
                  <a:lnTo>
                    <a:pt x="1171445" y="0"/>
                  </a:lnTo>
                  <a:cubicBezTo>
                    <a:pt x="1188537" y="0"/>
                    <a:pt x="1204930" y="6790"/>
                    <a:pt x="1217016" y="18876"/>
                  </a:cubicBezTo>
                  <a:cubicBezTo>
                    <a:pt x="1229102" y="30962"/>
                    <a:pt x="1235892" y="47355"/>
                    <a:pt x="1235892" y="64447"/>
                  </a:cubicBezTo>
                  <a:lnTo>
                    <a:pt x="1235892" y="1366477"/>
                  </a:lnTo>
                  <a:cubicBezTo>
                    <a:pt x="1235892" y="1383570"/>
                    <a:pt x="1229102" y="1399962"/>
                    <a:pt x="1217016" y="1412048"/>
                  </a:cubicBezTo>
                  <a:cubicBezTo>
                    <a:pt x="1204930" y="1424134"/>
                    <a:pt x="1188537" y="1430924"/>
                    <a:pt x="1171445" y="1430924"/>
                  </a:cubicBezTo>
                  <a:lnTo>
                    <a:pt x="64447" y="1430924"/>
                  </a:lnTo>
                  <a:cubicBezTo>
                    <a:pt x="47355" y="1430924"/>
                    <a:pt x="30962" y="1424134"/>
                    <a:pt x="18876" y="1412048"/>
                  </a:cubicBezTo>
                  <a:cubicBezTo>
                    <a:pt x="6790" y="1399962"/>
                    <a:pt x="0" y="1383570"/>
                    <a:pt x="0" y="1366477"/>
                  </a:cubicBezTo>
                  <a:lnTo>
                    <a:pt x="0" y="64447"/>
                  </a:lnTo>
                  <a:cubicBezTo>
                    <a:pt x="0" y="47355"/>
                    <a:pt x="6790" y="30962"/>
                    <a:pt x="18876" y="18876"/>
                  </a:cubicBezTo>
                  <a:cubicBezTo>
                    <a:pt x="30962" y="6790"/>
                    <a:pt x="47355" y="0"/>
                    <a:pt x="6444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35892" cy="1469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730333" y="8877106"/>
            <a:ext cx="798692" cy="762387"/>
          </a:xfrm>
          <a:custGeom>
            <a:avLst/>
            <a:gdLst/>
            <a:ahLst/>
            <a:cxnLst/>
            <a:rect r="r" b="b" t="t" l="l"/>
            <a:pathLst>
              <a:path h="762387" w="798692">
                <a:moveTo>
                  <a:pt x="0" y="0"/>
                </a:moveTo>
                <a:lnTo>
                  <a:pt x="798692" y="0"/>
                </a:lnTo>
                <a:lnTo>
                  <a:pt x="798692" y="762388"/>
                </a:lnTo>
                <a:lnTo>
                  <a:pt x="0" y="7623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486278" y="1585544"/>
            <a:ext cx="9315444" cy="87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b="true" sz="6061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PROJECT EVALUATION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68348" y="4601630"/>
            <a:ext cx="5379947" cy="315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6"/>
              </a:lnSpc>
            </a:pPr>
            <a:r>
              <a:rPr lang="en-US" sz="2997" b="true">
                <a:solidFill>
                  <a:srgbClr val="F4F6FC"/>
                </a:solidFill>
                <a:latin typeface="Poppins Bold"/>
                <a:ea typeface="Poppins Bold"/>
                <a:cs typeface="Poppins Bold"/>
                <a:sym typeface="Poppins Bold"/>
              </a:rPr>
              <a:t>Sy</a:t>
            </a:r>
            <a:r>
              <a:rPr lang="en-US" b="true" sz="2997">
                <a:solidFill>
                  <a:srgbClr val="F4F6FC"/>
                </a:solidFill>
                <a:latin typeface="Poppins Bold"/>
                <a:ea typeface="Poppins Bold"/>
                <a:cs typeface="Poppins Bold"/>
                <a:sym typeface="Poppins Bold"/>
              </a:rPr>
              <a:t>stem Testing Validation</a:t>
            </a:r>
          </a:p>
          <a:p>
            <a:pPr algn="ctr">
              <a:lnSpc>
                <a:spcPts val="3496"/>
              </a:lnSpc>
            </a:pPr>
          </a:p>
          <a:p>
            <a:pPr algn="l" marL="539285" indent="-269642" lvl="1">
              <a:lnSpc>
                <a:spcPts val="3496"/>
              </a:lnSpc>
              <a:buFont typeface="Arial"/>
              <a:buChar char="•"/>
            </a:pPr>
            <a:r>
              <a:rPr lang="en-US" sz="2497">
                <a:solidFill>
                  <a:srgbClr val="F4F6FC"/>
                </a:solidFill>
                <a:latin typeface="Poppins"/>
                <a:ea typeface="Poppins"/>
                <a:cs typeface="Poppins"/>
                <a:sym typeface="Poppins"/>
              </a:rPr>
              <a:t>Passing all predefined test cases </a:t>
            </a:r>
          </a:p>
          <a:p>
            <a:pPr algn="l" marL="539285" indent="-269642" lvl="1">
              <a:lnSpc>
                <a:spcPts val="3496"/>
              </a:lnSpc>
              <a:buFont typeface="Arial"/>
              <a:buChar char="•"/>
            </a:pPr>
            <a:r>
              <a:rPr lang="en-US" sz="2497">
                <a:solidFill>
                  <a:srgbClr val="F4F6FC"/>
                </a:solidFill>
                <a:latin typeface="Poppins"/>
                <a:ea typeface="Poppins"/>
                <a:cs typeface="Poppins"/>
                <a:sym typeface="Poppins"/>
              </a:rPr>
              <a:t>(e.g., preventing rentals at full stations, successful timeout logouts)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3762166" y="-798034"/>
            <a:ext cx="11261636" cy="8558844"/>
          </a:xfrm>
          <a:custGeom>
            <a:avLst/>
            <a:gdLst/>
            <a:ahLst/>
            <a:cxnLst/>
            <a:rect r="r" b="b" t="t" l="l"/>
            <a:pathLst>
              <a:path h="8558844" w="11261636">
                <a:moveTo>
                  <a:pt x="0" y="0"/>
                </a:moveTo>
                <a:lnTo>
                  <a:pt x="11261637" y="0"/>
                </a:lnTo>
                <a:lnTo>
                  <a:pt x="11261637" y="8558844"/>
                </a:lnTo>
                <a:lnTo>
                  <a:pt x="0" y="8558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4891298" y="2508422"/>
            <a:ext cx="8505403" cy="0"/>
          </a:xfrm>
          <a:prstGeom prst="line">
            <a:avLst/>
          </a:prstGeom>
          <a:ln cap="rnd" w="95250">
            <a:solidFill>
              <a:srgbClr val="27538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4800873" y="8877106"/>
            <a:ext cx="714896" cy="714896"/>
          </a:xfrm>
          <a:custGeom>
            <a:avLst/>
            <a:gdLst/>
            <a:ahLst/>
            <a:cxnLst/>
            <a:rect r="r" b="b" t="t" l="l"/>
            <a:pathLst>
              <a:path h="714896" w="714896">
                <a:moveTo>
                  <a:pt x="0" y="0"/>
                </a:moveTo>
                <a:lnTo>
                  <a:pt x="714896" y="0"/>
                </a:lnTo>
                <a:lnTo>
                  <a:pt x="714896" y="714897"/>
                </a:lnTo>
                <a:lnTo>
                  <a:pt x="0" y="7148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10439705" y="4601630"/>
            <a:ext cx="5379947" cy="315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6"/>
              </a:lnSpc>
            </a:pPr>
            <a:r>
              <a:rPr lang="en-US" sz="2997" b="true">
                <a:solidFill>
                  <a:srgbClr val="F4F6FC"/>
                </a:solidFill>
                <a:latin typeface="Poppins Bold"/>
                <a:ea typeface="Poppins Bold"/>
                <a:cs typeface="Poppins Bold"/>
                <a:sym typeface="Poppins Bold"/>
              </a:rPr>
              <a:t>In</a:t>
            </a:r>
            <a:r>
              <a:rPr lang="en-US" b="true" sz="2997">
                <a:solidFill>
                  <a:srgbClr val="F4F6FC"/>
                </a:solidFill>
                <a:latin typeface="Poppins Bold"/>
                <a:ea typeface="Poppins Bold"/>
                <a:cs typeface="Poppins Bold"/>
                <a:sym typeface="Poppins Bold"/>
              </a:rPr>
              <a:t>structor Assessment</a:t>
            </a:r>
          </a:p>
          <a:p>
            <a:pPr algn="ctr">
              <a:lnSpc>
                <a:spcPts val="3496"/>
              </a:lnSpc>
            </a:pPr>
          </a:p>
          <a:p>
            <a:pPr algn="l" marL="539285" indent="-269642" lvl="1">
              <a:lnSpc>
                <a:spcPts val="3496"/>
              </a:lnSpc>
              <a:buFont typeface="Arial"/>
              <a:buChar char="•"/>
            </a:pPr>
            <a:r>
              <a:rPr lang="en-US" sz="2497">
                <a:solidFill>
                  <a:srgbClr val="F4F6FC"/>
                </a:solidFill>
                <a:latin typeface="Poppins"/>
                <a:ea typeface="Poppins"/>
                <a:cs typeface="Poppins"/>
                <a:sym typeface="Poppins"/>
              </a:rPr>
              <a:t>Succe</a:t>
            </a:r>
            <a:r>
              <a:rPr lang="en-US" sz="2497">
                <a:solidFill>
                  <a:srgbClr val="F4F6FC"/>
                </a:solidFill>
                <a:latin typeface="Poppins"/>
                <a:ea typeface="Poppins"/>
                <a:cs typeface="Poppins"/>
                <a:sym typeface="Poppins"/>
              </a:rPr>
              <a:t>ssful demonstration of the deployed Web URL</a:t>
            </a:r>
          </a:p>
          <a:p>
            <a:pPr algn="l" marL="539285" indent="-269642" lvl="1">
              <a:lnSpc>
                <a:spcPts val="3496"/>
              </a:lnSpc>
              <a:buFont typeface="Arial"/>
              <a:buChar char="•"/>
            </a:pPr>
            <a:r>
              <a:rPr lang="en-US" sz="2497">
                <a:solidFill>
                  <a:srgbClr val="F4F6FC"/>
                </a:solidFill>
                <a:latin typeface="Poppins"/>
                <a:ea typeface="Poppins"/>
                <a:cs typeface="Poppins"/>
                <a:sym typeface="Poppins"/>
              </a:rPr>
              <a:t>Improving the integration of the frontend and backend modules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60306" y="462552"/>
            <a:ext cx="386976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dc325837 – Lei Man Lam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01559" y="5143500"/>
            <a:ext cx="9460517" cy="946051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57741" y="-7145674"/>
            <a:ext cx="9460517" cy="946051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3719897"/>
            <a:ext cx="5538403" cy="553840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7518" r="0" b="-1234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949272" y="6313646"/>
            <a:ext cx="3560113" cy="356011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4931" t="0" r="-24931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-1368171">
            <a:off x="9756386" y="3847826"/>
            <a:ext cx="8325708" cy="7947266"/>
          </a:xfrm>
          <a:custGeom>
            <a:avLst/>
            <a:gdLst/>
            <a:ahLst/>
            <a:cxnLst/>
            <a:rect r="r" b="b" t="t" l="l"/>
            <a:pathLst>
              <a:path h="7947266" w="8325708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81485" y="-1450422"/>
            <a:ext cx="5224933" cy="4635940"/>
          </a:xfrm>
          <a:custGeom>
            <a:avLst/>
            <a:gdLst/>
            <a:ahLst/>
            <a:cxnLst/>
            <a:rect r="r" b="b" t="t" l="l"/>
            <a:pathLst>
              <a:path h="4635940" w="5224933">
                <a:moveTo>
                  <a:pt x="0" y="0"/>
                </a:moveTo>
                <a:lnTo>
                  <a:pt x="5224932" y="0"/>
                </a:lnTo>
                <a:lnTo>
                  <a:pt x="5224932" y="4635940"/>
                </a:lnTo>
                <a:lnTo>
                  <a:pt x="0" y="4635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391895" y="3185518"/>
            <a:ext cx="5224933" cy="4635940"/>
          </a:xfrm>
          <a:custGeom>
            <a:avLst/>
            <a:gdLst/>
            <a:ahLst/>
            <a:cxnLst/>
            <a:rect r="r" b="b" t="t" l="l"/>
            <a:pathLst>
              <a:path h="4635940" w="5224933">
                <a:moveTo>
                  <a:pt x="0" y="0"/>
                </a:moveTo>
                <a:lnTo>
                  <a:pt x="5224933" y="0"/>
                </a:lnTo>
                <a:lnTo>
                  <a:pt x="5224933" y="4635941"/>
                </a:lnTo>
                <a:lnTo>
                  <a:pt x="0" y="4635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475474" y="8294851"/>
            <a:ext cx="7610227" cy="6752346"/>
          </a:xfrm>
          <a:custGeom>
            <a:avLst/>
            <a:gdLst/>
            <a:ahLst/>
            <a:cxnLst/>
            <a:rect r="r" b="b" t="t" l="l"/>
            <a:pathLst>
              <a:path h="6752346" w="7610227">
                <a:moveTo>
                  <a:pt x="0" y="0"/>
                </a:moveTo>
                <a:lnTo>
                  <a:pt x="7610226" y="0"/>
                </a:lnTo>
                <a:lnTo>
                  <a:pt x="7610226" y="6752347"/>
                </a:lnTo>
                <a:lnTo>
                  <a:pt x="0" y="67523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>
            <a:off x="8062440" y="6077240"/>
            <a:ext cx="8912510" cy="0"/>
          </a:xfrm>
          <a:prstGeom prst="line">
            <a:avLst/>
          </a:prstGeom>
          <a:ln cap="rnd" w="38100">
            <a:solidFill>
              <a:srgbClr val="051D4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10165856">
            <a:off x="2662051" y="-2415415"/>
            <a:ext cx="5680119" cy="5039815"/>
          </a:xfrm>
          <a:custGeom>
            <a:avLst/>
            <a:gdLst/>
            <a:ahLst/>
            <a:cxnLst/>
            <a:rect r="r" b="b" t="t" l="l"/>
            <a:pathLst>
              <a:path h="5039815" w="5680119">
                <a:moveTo>
                  <a:pt x="0" y="0"/>
                </a:moveTo>
                <a:lnTo>
                  <a:pt x="5680118" y="0"/>
                </a:lnTo>
                <a:lnTo>
                  <a:pt x="5680118" y="5039814"/>
                </a:lnTo>
                <a:lnTo>
                  <a:pt x="0" y="50398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756189" y="2131214"/>
            <a:ext cx="8218761" cy="87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606"/>
              </a:lnSpc>
            </a:pPr>
            <a:r>
              <a:rPr lang="en-US" b="true" sz="6061" u="sng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PROJECT LEARNING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29329" y="4521435"/>
            <a:ext cx="10245622" cy="131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6"/>
              </a:lnSpc>
            </a:pPr>
            <a:r>
              <a:rPr lang="en-US" sz="249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Ma</a:t>
            </a:r>
            <a:r>
              <a:rPr lang="en-US" sz="249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stering specific technical stacks (HTML, CSS, PHP, SQL) and understanding software engineering principles like UML modeling and requirement specification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0" y="7214172"/>
            <a:ext cx="7830950" cy="87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6"/>
              </a:lnSpc>
            </a:pPr>
            <a:r>
              <a:rPr lang="en-US" sz="249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utilizing GitHub for collaborative version control, and conducting structured strategic meetings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15263" y="3719897"/>
            <a:ext cx="8218761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4"/>
              </a:lnSpc>
            </a:pPr>
            <a:r>
              <a:rPr lang="en-US" b="true" sz="360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INDIVIDUAL LEARNING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15263" y="6489098"/>
            <a:ext cx="8218761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4"/>
              </a:lnSpc>
            </a:pPr>
            <a:r>
              <a:rPr lang="en-US" b="true" sz="360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TEAM LEARNING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73198" y="686891"/>
            <a:ext cx="386976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dc325837 – Lei Man Lam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99828" y="9096375"/>
            <a:ext cx="14038876" cy="3707664"/>
            <a:chOff x="0" y="0"/>
            <a:chExt cx="840196" cy="2218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0196" cy="221896"/>
            </a:xfrm>
            <a:custGeom>
              <a:avLst/>
              <a:gdLst/>
              <a:ahLst/>
              <a:cxnLst/>
              <a:rect r="r" b="b" t="t" l="l"/>
              <a:pathLst>
                <a:path h="221896" w="840196">
                  <a:moveTo>
                    <a:pt x="636996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840196" y="221896"/>
                  </a:lnTo>
                  <a:lnTo>
                    <a:pt x="636996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636996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50968" y="9712581"/>
            <a:ext cx="3959336" cy="1630467"/>
            <a:chOff x="0" y="0"/>
            <a:chExt cx="538839" cy="2218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8839" cy="221896"/>
            </a:xfrm>
            <a:custGeom>
              <a:avLst/>
              <a:gdLst/>
              <a:ahLst/>
              <a:cxnLst/>
              <a:rect r="r" b="b" t="t" l="l"/>
              <a:pathLst>
                <a:path h="221896" w="538839">
                  <a:moveTo>
                    <a:pt x="33563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538839" y="221896"/>
                  </a:lnTo>
                  <a:lnTo>
                    <a:pt x="335639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33563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399828" y="-883089"/>
            <a:ext cx="22040911" cy="1766178"/>
            <a:chOff x="0" y="0"/>
            <a:chExt cx="29387881" cy="235490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279115" cy="2173956"/>
              <a:chOff x="0" y="0"/>
              <a:chExt cx="538839" cy="22189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38839" cy="221896"/>
              </a:xfrm>
              <a:custGeom>
                <a:avLst/>
                <a:gdLst/>
                <a:ahLst/>
                <a:cxnLst/>
                <a:rect r="r" b="b" t="t" l="l"/>
                <a:pathLst>
                  <a:path h="221896" w="538839">
                    <a:moveTo>
                      <a:pt x="335639" y="0"/>
                    </a:moveTo>
                    <a:lnTo>
                      <a:pt x="0" y="0"/>
                    </a:lnTo>
                    <a:lnTo>
                      <a:pt x="203200" y="221896"/>
                    </a:lnTo>
                    <a:lnTo>
                      <a:pt x="538839" y="221896"/>
                    </a:lnTo>
                    <a:lnTo>
                      <a:pt x="335639" y="0"/>
                    </a:lnTo>
                    <a:close/>
                  </a:path>
                </a:pathLst>
              </a:custGeom>
              <a:solidFill>
                <a:srgbClr val="3671B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01600" y="-38100"/>
                <a:ext cx="335639" cy="2599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true" flipV="false" rot="0">
              <a:off x="16521382" y="682260"/>
              <a:ext cx="12866499" cy="1672645"/>
            </a:xfrm>
            <a:custGeom>
              <a:avLst/>
              <a:gdLst/>
              <a:ahLst/>
              <a:cxnLst/>
              <a:rect r="r" b="b" t="t" l="l"/>
              <a:pathLst>
                <a:path h="1672645" w="12866499">
                  <a:moveTo>
                    <a:pt x="12866499" y="0"/>
                  </a:moveTo>
                  <a:lnTo>
                    <a:pt x="0" y="0"/>
                  </a:lnTo>
                  <a:lnTo>
                    <a:pt x="0" y="1672645"/>
                  </a:lnTo>
                  <a:lnTo>
                    <a:pt x="12866499" y="1672645"/>
                  </a:lnTo>
                  <a:lnTo>
                    <a:pt x="1286649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3" id="13"/>
            <p:cNvGrpSpPr/>
            <p:nvPr/>
          </p:nvGrpSpPr>
          <p:grpSpPr>
            <a:xfrm rot="0">
              <a:off x="3766629" y="95187"/>
              <a:ext cx="13962941" cy="1123346"/>
              <a:chOff x="0" y="0"/>
              <a:chExt cx="2758112" cy="22189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758112" cy="221896"/>
              </a:xfrm>
              <a:custGeom>
                <a:avLst/>
                <a:gdLst/>
                <a:ahLst/>
                <a:cxnLst/>
                <a:rect r="r" b="b" t="t" l="l"/>
                <a:pathLst>
                  <a:path h="221896" w="2758112">
                    <a:moveTo>
                      <a:pt x="2554912" y="0"/>
                    </a:moveTo>
                    <a:lnTo>
                      <a:pt x="0" y="0"/>
                    </a:lnTo>
                    <a:lnTo>
                      <a:pt x="203200" y="221896"/>
                    </a:lnTo>
                    <a:lnTo>
                      <a:pt x="2758112" y="221896"/>
                    </a:lnTo>
                    <a:lnTo>
                      <a:pt x="2554912" y="0"/>
                    </a:lnTo>
                    <a:close/>
                  </a:path>
                </a:pathLst>
              </a:custGeom>
              <a:solidFill>
                <a:srgbClr val="3671B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554912" cy="2599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003881" y="1442382"/>
              <a:ext cx="13316792" cy="666868"/>
              <a:chOff x="0" y="0"/>
              <a:chExt cx="4431069" cy="22189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431069" cy="221896"/>
              </a:xfrm>
              <a:custGeom>
                <a:avLst/>
                <a:gdLst/>
                <a:ahLst/>
                <a:cxnLst/>
                <a:rect r="r" b="b" t="t" l="l"/>
                <a:pathLst>
                  <a:path h="221896" w="4431069">
                    <a:moveTo>
                      <a:pt x="4227869" y="0"/>
                    </a:moveTo>
                    <a:lnTo>
                      <a:pt x="0" y="0"/>
                    </a:lnTo>
                    <a:lnTo>
                      <a:pt x="203200" y="221896"/>
                    </a:lnTo>
                    <a:lnTo>
                      <a:pt x="4431069" y="221896"/>
                    </a:lnTo>
                    <a:lnTo>
                      <a:pt x="4227869" y="0"/>
                    </a:lnTo>
                    <a:close/>
                  </a:path>
                </a:pathLst>
              </a:custGeom>
              <a:solidFill>
                <a:srgbClr val="12366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4227869" cy="2599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-2247428" y="9248775"/>
            <a:ext cx="14038876" cy="3707664"/>
            <a:chOff x="0" y="0"/>
            <a:chExt cx="840196" cy="2218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40196" cy="221896"/>
            </a:xfrm>
            <a:custGeom>
              <a:avLst/>
              <a:gdLst/>
              <a:ahLst/>
              <a:cxnLst/>
              <a:rect r="r" b="b" t="t" l="l"/>
              <a:pathLst>
                <a:path h="221896" w="840196">
                  <a:moveTo>
                    <a:pt x="636996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840196" y="221896"/>
                  </a:lnTo>
                  <a:lnTo>
                    <a:pt x="636996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01600" y="-38100"/>
              <a:ext cx="636996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32295" y="9864981"/>
            <a:ext cx="11424871" cy="769470"/>
            <a:chOff x="0" y="0"/>
            <a:chExt cx="3294642" cy="2218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94642" cy="221896"/>
            </a:xfrm>
            <a:custGeom>
              <a:avLst/>
              <a:gdLst/>
              <a:ahLst/>
              <a:cxnLst/>
              <a:rect r="r" b="b" t="t" l="l"/>
              <a:pathLst>
                <a:path h="221896" w="3294642">
                  <a:moveTo>
                    <a:pt x="3091442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3294642" y="221896"/>
                  </a:lnTo>
                  <a:lnTo>
                    <a:pt x="3091442" y="0"/>
                  </a:lnTo>
                  <a:close/>
                </a:path>
              </a:pathLst>
            </a:custGeom>
            <a:solidFill>
              <a:srgbClr val="12366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01600" y="-38100"/>
              <a:ext cx="3091442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-798568" y="9864981"/>
            <a:ext cx="3959336" cy="1630467"/>
            <a:chOff x="0" y="0"/>
            <a:chExt cx="538839" cy="2218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8839" cy="221896"/>
            </a:xfrm>
            <a:custGeom>
              <a:avLst/>
              <a:gdLst/>
              <a:ahLst/>
              <a:cxnLst/>
              <a:rect r="r" b="b" t="t" l="l"/>
              <a:pathLst>
                <a:path h="221896" w="538839">
                  <a:moveTo>
                    <a:pt x="33563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538839" y="221896"/>
                  </a:lnTo>
                  <a:lnTo>
                    <a:pt x="335639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01600" y="-38100"/>
              <a:ext cx="33563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058811" y="3407105"/>
            <a:ext cx="13123632" cy="386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4"/>
              </a:lnSpc>
              <a:spcBef>
                <a:spcPct val="0"/>
              </a:spcBef>
            </a:pPr>
            <a:r>
              <a:rPr lang="en-US" sz="369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AI Tool: Googl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Gemini.</a:t>
            </a:r>
          </a:p>
          <a:p>
            <a:pPr algn="l">
              <a:lnSpc>
                <a:spcPts val="5174"/>
              </a:lnSpc>
              <a:spcBef>
                <a:spcPct val="0"/>
              </a:spcBef>
            </a:pP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Appl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ic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ation: Docum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ntation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refinemen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propos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 s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cturing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cod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 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gi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troubleshoo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ng.</a:t>
            </a:r>
          </a:p>
          <a:p>
            <a:pPr algn="l">
              <a:lnSpc>
                <a:spcPts val="5174"/>
              </a:lnSpc>
              <a:spcBef>
                <a:spcPct val="0"/>
              </a:spcBef>
            </a:pP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Review: All c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on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tent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ifie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 ad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 by the team to en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ure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demi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egr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</a:t>
            </a:r>
            <a:r>
              <a:rPr lang="en-US" sz="3695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  <a:p>
            <a:pPr algn="l" marL="0" indent="0" lvl="0">
              <a:lnSpc>
                <a:spcPts val="5174"/>
              </a:lnSpc>
              <a:spcBef>
                <a:spcPct val="0"/>
              </a:spcBef>
            </a:pP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1973075" y="7274289"/>
            <a:ext cx="5650629" cy="1278455"/>
          </a:xfrm>
          <a:custGeom>
            <a:avLst/>
            <a:gdLst/>
            <a:ahLst/>
            <a:cxnLst/>
            <a:rect r="r" b="b" t="t" l="l"/>
            <a:pathLst>
              <a:path h="1278455" w="5650629">
                <a:moveTo>
                  <a:pt x="0" y="0"/>
                </a:moveTo>
                <a:lnTo>
                  <a:pt x="5650629" y="0"/>
                </a:lnTo>
                <a:lnTo>
                  <a:pt x="5650629" y="1278455"/>
                </a:lnTo>
                <a:lnTo>
                  <a:pt x="0" y="12784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489611" y="1154886"/>
            <a:ext cx="11308779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DECLARATION OF AI USAGE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110413" y="8372087"/>
            <a:ext cx="386976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Speaker: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dc325837 – Lei Man Lam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7741" y="-7145674"/>
            <a:ext cx="9460517" cy="946051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81485" y="-1450422"/>
            <a:ext cx="5224933" cy="4635940"/>
          </a:xfrm>
          <a:custGeom>
            <a:avLst/>
            <a:gdLst/>
            <a:ahLst/>
            <a:cxnLst/>
            <a:rect r="r" b="b" t="t" l="l"/>
            <a:pathLst>
              <a:path h="4635940" w="5224933">
                <a:moveTo>
                  <a:pt x="0" y="0"/>
                </a:moveTo>
                <a:lnTo>
                  <a:pt x="5224932" y="0"/>
                </a:lnTo>
                <a:lnTo>
                  <a:pt x="5224932" y="4635940"/>
                </a:lnTo>
                <a:lnTo>
                  <a:pt x="0" y="463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391895" y="3185518"/>
            <a:ext cx="5224933" cy="4635940"/>
          </a:xfrm>
          <a:custGeom>
            <a:avLst/>
            <a:gdLst/>
            <a:ahLst/>
            <a:cxnLst/>
            <a:rect r="r" b="b" t="t" l="l"/>
            <a:pathLst>
              <a:path h="4635940" w="5224933">
                <a:moveTo>
                  <a:pt x="0" y="0"/>
                </a:moveTo>
                <a:lnTo>
                  <a:pt x="5224933" y="0"/>
                </a:lnTo>
                <a:lnTo>
                  <a:pt x="5224933" y="4635941"/>
                </a:lnTo>
                <a:lnTo>
                  <a:pt x="0" y="4635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75474" y="8294851"/>
            <a:ext cx="7610227" cy="6752346"/>
          </a:xfrm>
          <a:custGeom>
            <a:avLst/>
            <a:gdLst/>
            <a:ahLst/>
            <a:cxnLst/>
            <a:rect r="r" b="b" t="t" l="l"/>
            <a:pathLst>
              <a:path h="6752346" w="7610227">
                <a:moveTo>
                  <a:pt x="0" y="0"/>
                </a:moveTo>
                <a:lnTo>
                  <a:pt x="7610226" y="0"/>
                </a:lnTo>
                <a:lnTo>
                  <a:pt x="7610226" y="6752347"/>
                </a:lnTo>
                <a:lnTo>
                  <a:pt x="0" y="67523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165856">
            <a:off x="2662051" y="-2415415"/>
            <a:ext cx="5680119" cy="5039815"/>
          </a:xfrm>
          <a:custGeom>
            <a:avLst/>
            <a:gdLst/>
            <a:ahLst/>
            <a:cxnLst/>
            <a:rect r="r" b="b" t="t" l="l"/>
            <a:pathLst>
              <a:path h="5039815" w="5680119">
                <a:moveTo>
                  <a:pt x="0" y="0"/>
                </a:moveTo>
                <a:lnTo>
                  <a:pt x="5680118" y="0"/>
                </a:lnTo>
                <a:lnTo>
                  <a:pt x="5680118" y="5039814"/>
                </a:lnTo>
                <a:lnTo>
                  <a:pt x="0" y="50398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46809" y="1669775"/>
            <a:ext cx="8218761" cy="87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606"/>
              </a:lnSpc>
            </a:pPr>
            <a:r>
              <a:rPr lang="en-US" b="true" sz="6061" u="sng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REFE</a:t>
            </a:r>
            <a:r>
              <a:rPr lang="en-US" b="true" sz="6061" u="sng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RENCES (APA STYLE)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29639" y="3402442"/>
            <a:ext cx="14267522" cy="340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7"/>
              </a:lnSpc>
            </a:pPr>
            <a:r>
              <a:rPr lang="en-US" sz="2783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Chonoles, M. J., &amp; Schardt, J. A. (2003). UML 2 for dummies. Wiley.</a:t>
            </a:r>
          </a:p>
          <a:p>
            <a:pPr algn="l">
              <a:lnSpc>
                <a:spcPts val="3897"/>
              </a:lnSpc>
            </a:pPr>
            <a:r>
              <a:rPr lang="en-US" sz="2783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783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Mozilla. (2025). </a:t>
            </a:r>
            <a:r>
              <a:rPr lang="en-US" sz="2783" i="true">
                <a:solidFill>
                  <a:srgbClr val="051D4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MDN Web Docs: Responsive Web Design.</a:t>
            </a:r>
          </a:p>
          <a:p>
            <a:pPr algn="l">
              <a:lnSpc>
                <a:spcPts val="3897"/>
              </a:lnSpc>
            </a:pPr>
            <a:r>
              <a:rPr lang="en-US" sz="2783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783" u="sng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  <a:hlinkClick r:id="rId4" tooltip="https://developer.mozilla.org/en-US/docs/Learn_web_development/Core/CSS_layout/Responsive_Design"/>
              </a:rPr>
              <a:t>https://developer.mozilla.org/en-</a:t>
            </a:r>
          </a:p>
          <a:p>
            <a:pPr algn="l">
              <a:lnSpc>
                <a:spcPts val="3897"/>
              </a:lnSpc>
            </a:pPr>
            <a:r>
              <a:rPr lang="en-US" sz="2783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783" u="sng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  <a:hlinkClick r:id="rId5" tooltip="https://developer.mozilla.org/en-US/docs/Learn_web_development/Core/CSS_layout/Responsive_Design"/>
              </a:rPr>
              <a:t>US/docs/Learn_web_development/Core/CSS_layout/Responsive_Design</a:t>
            </a:r>
            <a:r>
              <a:rPr lang="en-US" sz="2783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3897"/>
              </a:lnSpc>
            </a:pPr>
            <a:r>
              <a:rPr lang="en-US" sz="2783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Seidl, M., Scholz, M., Huemer, C., &amp; Kappel, G. (2015). UML @ </a:t>
            </a:r>
            <a:r>
              <a:rPr lang="en-US" sz="2783" i="true">
                <a:solidFill>
                  <a:srgbClr val="051D4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Classroom: An </a:t>
            </a:r>
          </a:p>
          <a:p>
            <a:pPr algn="l">
              <a:lnSpc>
                <a:spcPts val="3897"/>
              </a:lnSpc>
            </a:pPr>
            <a:r>
              <a:rPr lang="en-US" sz="2783" i="true">
                <a:solidFill>
                  <a:srgbClr val="051D4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</a:t>
            </a:r>
            <a:r>
              <a:rPr lang="en-US" sz="2783" i="true">
                <a:solidFill>
                  <a:srgbClr val="051D4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introduction to object-oriented modeling. Springer.</a:t>
            </a:r>
          </a:p>
          <a:p>
            <a:pPr algn="l">
              <a:lnSpc>
                <a:spcPts val="3897"/>
              </a:lnSpc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87416" y="4148137"/>
            <a:ext cx="10313168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9"/>
              </a:lnSpc>
            </a:pPr>
            <a:r>
              <a:rPr lang="en-US" b="true" sz="10299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11454078" y="3832558"/>
            <a:ext cx="10731617" cy="2936226"/>
          </a:xfrm>
          <a:custGeom>
            <a:avLst/>
            <a:gdLst/>
            <a:ahLst/>
            <a:cxnLst/>
            <a:rect r="r" b="b" t="t" l="l"/>
            <a:pathLst>
              <a:path h="2936226" w="10731617">
                <a:moveTo>
                  <a:pt x="0" y="0"/>
                </a:moveTo>
                <a:lnTo>
                  <a:pt x="10731618" y="0"/>
                </a:lnTo>
                <a:lnTo>
                  <a:pt x="10731618" y="2936226"/>
                </a:lnTo>
                <a:lnTo>
                  <a:pt x="0" y="293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4977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48325" y="9258300"/>
            <a:ext cx="3991351" cy="419092"/>
          </a:xfrm>
          <a:custGeom>
            <a:avLst/>
            <a:gdLst/>
            <a:ahLst/>
            <a:cxnLst/>
            <a:rect r="r" b="b" t="t" l="l"/>
            <a:pathLst>
              <a:path h="419092" w="3991351">
                <a:moveTo>
                  <a:pt x="0" y="0"/>
                </a:moveTo>
                <a:lnTo>
                  <a:pt x="3991350" y="0"/>
                </a:lnTo>
                <a:lnTo>
                  <a:pt x="3991350" y="419092"/>
                </a:lnTo>
                <a:lnTo>
                  <a:pt x="0" y="419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400000">
            <a:off x="-3894256" y="3453078"/>
            <a:ext cx="10731617" cy="2936226"/>
          </a:xfrm>
          <a:custGeom>
            <a:avLst/>
            <a:gdLst/>
            <a:ahLst/>
            <a:cxnLst/>
            <a:rect r="r" b="b" t="t" l="l"/>
            <a:pathLst>
              <a:path h="2936226" w="10731617">
                <a:moveTo>
                  <a:pt x="10731618" y="2936226"/>
                </a:moveTo>
                <a:lnTo>
                  <a:pt x="0" y="2936226"/>
                </a:lnTo>
                <a:lnTo>
                  <a:pt x="0" y="0"/>
                </a:lnTo>
                <a:lnTo>
                  <a:pt x="10731618" y="0"/>
                </a:lnTo>
                <a:lnTo>
                  <a:pt x="10731618" y="29362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4977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50045" y="819154"/>
            <a:ext cx="3991351" cy="419092"/>
          </a:xfrm>
          <a:custGeom>
            <a:avLst/>
            <a:gdLst/>
            <a:ahLst/>
            <a:cxnLst/>
            <a:rect r="r" b="b" t="t" l="l"/>
            <a:pathLst>
              <a:path h="419092" w="3991351">
                <a:moveTo>
                  <a:pt x="0" y="0"/>
                </a:moveTo>
                <a:lnTo>
                  <a:pt x="3991350" y="0"/>
                </a:lnTo>
                <a:lnTo>
                  <a:pt x="3991350" y="419092"/>
                </a:lnTo>
                <a:lnTo>
                  <a:pt x="0" y="419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5400000">
            <a:off x="8363508" y="-6834688"/>
            <a:ext cx="16912758" cy="1557251"/>
            <a:chOff x="0" y="0"/>
            <a:chExt cx="2409929" cy="2218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09929" cy="221896"/>
            </a:xfrm>
            <a:custGeom>
              <a:avLst/>
              <a:gdLst/>
              <a:ahLst/>
              <a:cxnLst/>
              <a:rect r="r" b="b" t="t" l="l"/>
              <a:pathLst>
                <a:path h="2218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2409929" y="2218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38100"/>
              <a:ext cx="220672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5400000">
            <a:off x="-6984826" y="15349582"/>
            <a:ext cx="16912758" cy="1557251"/>
            <a:chOff x="0" y="0"/>
            <a:chExt cx="2409929" cy="2218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09929" cy="221896"/>
            </a:xfrm>
            <a:custGeom>
              <a:avLst/>
              <a:gdLst/>
              <a:ahLst/>
              <a:cxnLst/>
              <a:rect r="r" b="b" t="t" l="l"/>
              <a:pathLst>
                <a:path h="2218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2409929" y="2218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220672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508983" y="5904984"/>
            <a:ext cx="327347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DAHJKNuhSZg</dc:identifier>
  <dcterms:modified xsi:type="dcterms:W3CDTF">2011-08-01T06:04:30Z</dcterms:modified>
  <cp:revision>1</cp:revision>
  <dc:title>CISC3003 project ppt</dc:title>
</cp:coreProperties>
</file>